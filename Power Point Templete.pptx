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96" r:id="rId1"/>
  </p:sldMasterIdLst>
  <p:notesMasterIdLst>
    <p:notesMasterId r:id="rId12"/>
  </p:notesMasterIdLst>
  <p:handoutMasterIdLst>
    <p:handoutMasterId r:id="rId13"/>
  </p:handoutMasterIdLst>
  <p:sldIdLst>
    <p:sldId id="281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314" r:id="rId10"/>
    <p:sldId id="306" r:id="rId11"/>
    <p:sldId id="315" r:id="rId18"/>
    <p:sldId id="316" r:id="rId19"/>
    <p:sldId id="317" r:id="rId20"/>
    <p:sldId id="318" r:id="rId21"/>
    <p:sldId id="319" r:id="rId22"/>
    <p:sldId id="320" r:id="rId23"/>
    <p:sldId id="321" r:id="rId24"/>
    <p:sldId id="322" r:id="rId25"/>
    <p:sldId id="323" r:id="rId26"/>
    <p:sldId id="324" r:id="rId27"/>
    <p:sldId id="325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C32FA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950" y="15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3" d="100"/>
          <a:sy n="63" d="100"/>
        </p:scale>
        <p:origin x="3206" y="7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816649F-4DE1-32D8-B441-7776453DA96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46D696-6EB7-7E44-0256-D5FE408ED24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CC7877-42AE-4E96-89BB-11C2D6F19078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020747-3C87-09B7-09E7-94D45A4DBD4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02AE67B-4E44-276D-63BE-78F0CC34A4F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EAF399-67E9-4685-A4F9-94AFEE6716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4388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3B2DE9-CE44-471F-8E0C-C9E006EA2D44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5B6C53E-F6E7-4CC5-A337-58E99B1178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8942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244C7F-5835-47AD-99FA-C31C49F425A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97791-4086-EC5C-BB95-3FD1185F3589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211511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1EB0CFC-C148-AE55-0C4C-04490A347861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1"/>
            <a:ext cx="7886699" cy="814796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90112" y="997361"/>
            <a:ext cx="7725237" cy="5179602"/>
          </a:xfrm>
        </p:spPr>
        <p:txBody>
          <a:bodyPr/>
          <a:lstStyle>
            <a:lvl1pPr>
              <a:defRPr sz="3000">
                <a:latin typeface="Comic Sans MS" panose="030F0702030302020204" pitchFamily="66" charset="0"/>
              </a:defRPr>
            </a:lvl1pPr>
            <a:lvl2pPr>
              <a:defRPr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>
                <a:latin typeface="Comic Sans MS" panose="030F0702030302020204" pitchFamily="66" charset="0"/>
              </a:defRPr>
            </a:lvl4pPr>
            <a:lvl5pPr>
              <a:defRPr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A8E95336-2A75-4845-9194-CD5DFCD56D24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D42F7C8-B66D-F80E-9FE8-00AEDED6F3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27056" y="3071512"/>
            <a:ext cx="2659652" cy="434002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AC98125-335F-4159-78B6-E3EDE4506FE5}"/>
              </a:ext>
            </a:extLst>
          </p:cNvPr>
          <p:cNvSpPr/>
          <p:nvPr userDrawn="1"/>
        </p:nvSpPr>
        <p:spPr>
          <a:xfrm>
            <a:off x="0" y="-182563"/>
            <a:ext cx="9144000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0CC4BF0-96F0-FCC9-A270-04D32A508A2A}"/>
              </a:ext>
            </a:extLst>
          </p:cNvPr>
          <p:cNvSpPr/>
          <p:nvPr userDrawn="1"/>
        </p:nvSpPr>
        <p:spPr>
          <a:xfrm>
            <a:off x="637528" y="834501"/>
            <a:ext cx="7886699" cy="106532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15B9C41-54F4-86E0-E424-1A15B998CEB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114588" y="4698399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58625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C987-1608-418C-83FB-0C4F41BDA42F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6655E2-BF16-C45F-5728-AF898538E250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23EB4C-9E1E-78BB-0ECA-625FC96CEB4E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6377406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7"/>
            <a:ext cx="7886700" cy="7337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447798"/>
            <a:ext cx="3886200" cy="472916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447798"/>
            <a:ext cx="3886200" cy="472916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F00AE9CB-D8DC-4B64-A879-284BC57FBE70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06236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141608-1095-33E7-7FCE-D7428BB1F835}"/>
              </a:ext>
            </a:extLst>
          </p:cNvPr>
          <p:cNvSpPr/>
          <p:nvPr userDrawn="1"/>
        </p:nvSpPr>
        <p:spPr>
          <a:xfrm>
            <a:off x="4557713" y="1447804"/>
            <a:ext cx="34290" cy="472916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612C1A-4F52-58F4-0D6C-F8FC02A0020B}"/>
              </a:ext>
            </a:extLst>
          </p:cNvPr>
          <p:cNvSpPr/>
          <p:nvPr userDrawn="1"/>
        </p:nvSpPr>
        <p:spPr>
          <a:xfrm>
            <a:off x="628650" y="1098884"/>
            <a:ext cx="7886700" cy="4571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1F0B93-013D-CFD6-DAAF-E49CCCB7617A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3205499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33758"/>
          </a:xfrm>
        </p:spPr>
        <p:txBody>
          <a:bodyPr/>
          <a:lstStyle>
            <a:lvl1pPr>
              <a:defRPr>
                <a:latin typeface="Comic Sans MS" panose="030F0702030302020204" pitchFamily="66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334930"/>
            <a:ext cx="3868340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226299"/>
            <a:ext cx="3868340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 sz="2000"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334930"/>
            <a:ext cx="3887391" cy="823912"/>
          </a:xfrm>
        </p:spPr>
        <p:txBody>
          <a:bodyPr anchor="b"/>
          <a:lstStyle>
            <a:lvl1pPr marL="0" indent="0">
              <a:buNone/>
              <a:defRPr sz="2400" b="1">
                <a:latin typeface="Comic Sans MS" panose="030F0702030302020204" pitchFamily="66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226299"/>
            <a:ext cx="3887391" cy="3963364"/>
          </a:xfrm>
        </p:spPr>
        <p:txBody>
          <a:bodyPr/>
          <a:lstStyle>
            <a:lvl1pPr>
              <a:defRPr sz="2800">
                <a:latin typeface="Comic Sans MS" panose="030F0702030302020204" pitchFamily="66" charset="0"/>
              </a:defRPr>
            </a:lvl1pPr>
            <a:lvl2pPr>
              <a:defRPr sz="2400">
                <a:latin typeface="Comic Sans MS" panose="030F0702030302020204" pitchFamily="66" charset="0"/>
              </a:defRPr>
            </a:lvl2pPr>
            <a:lvl3pPr>
              <a:defRPr>
                <a:latin typeface="Comic Sans MS" panose="030F0702030302020204" pitchFamily="66" charset="0"/>
              </a:defRPr>
            </a:lvl3pPr>
            <a:lvl4pPr>
              <a:defRPr sz="1800">
                <a:latin typeface="Comic Sans MS" panose="030F0702030302020204" pitchFamily="66" charset="0"/>
              </a:defRPr>
            </a:lvl4pPr>
            <a:lvl5pPr>
              <a:defRPr sz="1800">
                <a:latin typeface="Comic Sans MS" panose="030F0702030302020204" pitchFamily="66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69F571C-FBCE-49A4-B128-9005F6FF28FC}" type="datetime3">
              <a:rPr lang="en-US" smtClean="0"/>
              <a:t>19 August 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97592FD-9C86-A8E1-6DAE-33D75984B9E0}"/>
              </a:ext>
            </a:extLst>
          </p:cNvPr>
          <p:cNvSpPr/>
          <p:nvPr userDrawn="1"/>
        </p:nvSpPr>
        <p:spPr>
          <a:xfrm>
            <a:off x="4532608" y="2213607"/>
            <a:ext cx="57148" cy="3963364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04807D-2905-FAA3-57EF-16E825316AFB}"/>
              </a:ext>
            </a:extLst>
          </p:cNvPr>
          <p:cNvSpPr/>
          <p:nvPr userDrawn="1"/>
        </p:nvSpPr>
        <p:spPr>
          <a:xfrm>
            <a:off x="628650" y="1098883"/>
            <a:ext cx="7886700" cy="6745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>
              <a:latin typeface="Comic Sans MS" panose="030F0702030302020204" pitchFamily="66" charset="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0B74DD-DFCE-2DCC-3256-D8C1C54DB59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-982469" y="3033437"/>
            <a:ext cx="2659652" cy="434002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4E76CC61-45C2-A340-CFAF-0EAEE0A35B72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2B35EB-C495-006C-7BA3-B486DF88576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50296" y="4660325"/>
            <a:ext cx="594123" cy="434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962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7B14A670-A6C6-4923-9987-061525A90A4E}" type="datetime3">
              <a:rPr lang="en-US" smtClean="0"/>
              <a:t>19 August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531648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C99793B-939D-41BD-718D-2C6865EF6665}"/>
              </a:ext>
            </a:extLst>
          </p:cNvPr>
          <p:cNvSpPr/>
          <p:nvPr userDrawn="1"/>
        </p:nvSpPr>
        <p:spPr>
          <a:xfrm>
            <a:off x="-230820" y="-182563"/>
            <a:ext cx="945471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1750553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C3BCAAC-96F4-4B82-BA47-8EF2DEC9C095}" type="datetime3">
              <a:rPr lang="en-US" smtClean="0"/>
              <a:t>19 August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1"/>
            <a:ext cx="3429000" cy="36512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B382FB-C469-4E1A-B3F4-44CB6EB10630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82833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A08B8-7B60-497B-93A3-C7CB7C5B904C}" type="datetime3">
              <a:rPr lang="en-US" smtClean="0"/>
              <a:t>19 August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8505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ED2E2D-BAC0-4EEC-AF16-FECA705703FB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3827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407CF8-C60A-470B-ACAF-FDD18325B3EC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823948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FF6D32-5807-4E71-875F-992A18424DF1}" type="datetime3">
              <a:rPr lang="en-US" smtClean="0"/>
              <a:t>19 August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COMPUTER SCIENCE DEPARTMENT - 2025/2026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577FC44-AFA0-406C-827E-0652D69BC186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EC92458-5956-C585-FEC0-0E111C04C8D8}"/>
              </a:ext>
            </a:extLst>
          </p:cNvPr>
          <p:cNvGrpSpPr/>
          <p:nvPr userDrawn="1"/>
        </p:nvGrpSpPr>
        <p:grpSpPr>
          <a:xfrm>
            <a:off x="2" y="-100583"/>
            <a:ext cx="9149715" cy="145666"/>
            <a:chOff x="0" y="-9144"/>
            <a:chExt cx="12199620" cy="365125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0492F980-C2C4-693F-EBE4-FA01383EADB2}"/>
                </a:ext>
              </a:extLst>
            </p:cNvPr>
            <p:cNvSpPr/>
            <p:nvPr userDrawn="1"/>
          </p:nvSpPr>
          <p:spPr>
            <a:xfrm>
              <a:off x="0" y="-9144"/>
              <a:ext cx="4562856" cy="365125"/>
            </a:xfrm>
            <a:prstGeom prst="rect">
              <a:avLst/>
            </a:prstGeom>
            <a:solidFill>
              <a:srgbClr val="FFC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80E49933-6120-1ACA-44DD-BAD673B25B39}"/>
                </a:ext>
              </a:extLst>
            </p:cNvPr>
            <p:cNvSpPr/>
            <p:nvPr userDrawn="1"/>
          </p:nvSpPr>
          <p:spPr>
            <a:xfrm>
              <a:off x="3648456" y="-9144"/>
              <a:ext cx="4562856" cy="365125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4E46D3A-95A2-4A4B-9CF8-9425695D4535}"/>
                </a:ext>
              </a:extLst>
            </p:cNvPr>
            <p:cNvSpPr/>
            <p:nvPr userDrawn="1"/>
          </p:nvSpPr>
          <p:spPr>
            <a:xfrm>
              <a:off x="7636764" y="-9144"/>
              <a:ext cx="4562856" cy="365125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350"/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D6BBC955-06FD-EFCD-162B-E8A068F3EAC9}"/>
              </a:ext>
            </a:extLst>
          </p:cNvPr>
          <p:cNvSpPr/>
          <p:nvPr userDrawn="1"/>
        </p:nvSpPr>
        <p:spPr>
          <a:xfrm>
            <a:off x="0" y="6356360"/>
            <a:ext cx="9144000" cy="501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F7143C-4239-687B-463F-7D4336DC13B5}"/>
              </a:ext>
            </a:extLst>
          </p:cNvPr>
          <p:cNvSpPr/>
          <p:nvPr userDrawn="1"/>
        </p:nvSpPr>
        <p:spPr>
          <a:xfrm>
            <a:off x="0" y="-182563"/>
            <a:ext cx="9143998" cy="3651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7A3F1AF-3BCB-F94B-146E-0B30D24EA92D}"/>
              </a:ext>
            </a:extLst>
          </p:cNvPr>
          <p:cNvSpPr/>
          <p:nvPr userDrawn="1"/>
        </p:nvSpPr>
        <p:spPr>
          <a:xfrm>
            <a:off x="0" y="6356350"/>
            <a:ext cx="9144000" cy="50165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H" sz="1350"/>
          </a:p>
        </p:txBody>
      </p:sp>
    </p:spTree>
    <p:extLst>
      <p:ext uri="{BB962C8B-B14F-4D97-AF65-F5344CB8AC3E}">
        <p14:creationId xmlns:p14="http://schemas.microsoft.com/office/powerpoint/2010/main" val="20956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5AD98F3-06D7-26E4-D027-89C1F00E507F}"/>
              </a:ext>
            </a:extLst>
          </p:cNvPr>
          <p:cNvSpPr txBox="1">
            <a:spLocks/>
          </p:cNvSpPr>
          <p:nvPr/>
        </p:nvSpPr>
        <p:spPr>
          <a:xfrm>
            <a:off x="1310184" y="1704340"/>
            <a:ext cx="6346210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FACULTY OF APPLIED SCIENCE &amp; TECHNOLOGY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81C9244-D875-1F04-F5B3-7B3C4482A74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8037" y="995020"/>
            <a:ext cx="3433777" cy="776864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8280574A-584D-53D5-DC6A-C019297B4DA2}"/>
              </a:ext>
            </a:extLst>
          </p:cNvPr>
          <p:cNvSpPr txBox="1">
            <a:spLocks/>
          </p:cNvSpPr>
          <p:nvPr/>
        </p:nvSpPr>
        <p:spPr>
          <a:xfrm>
            <a:off x="767686" y="2175390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2400" dirty="0">
                <a:latin typeface="Arial Black" panose="020B0A04020102020204" pitchFamily="34" charset="0"/>
              </a:rPr>
              <a:t>DEPARTMENT OF COMPUTER SCIENCE</a:t>
            </a:r>
          </a:p>
        </p:txBody>
      </p:sp>
      <p:sp>
        <p:nvSpPr>
          <p:cNvPr id="14" name="Text 3">
            <a:extLst>
              <a:ext uri="{FF2B5EF4-FFF2-40B4-BE49-F238E27FC236}">
                <a16:creationId xmlns:a16="http://schemas.microsoft.com/office/drawing/2014/main" id="{425C1766-939B-7B53-E1A3-70D90A8C07D9}"/>
              </a:ext>
            </a:extLst>
          </p:cNvPr>
          <p:cNvSpPr/>
          <p:nvPr/>
        </p:nvSpPr>
        <p:spPr>
          <a:xfrm>
            <a:off x="856396" y="3292876"/>
            <a:ext cx="7431207" cy="17137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300" b="1">
                <a:solidFill>
                  <a:srgbClr val="D48F00"/>
                </a:solidFill>
                <a:latin typeface="Calibri"/>
              </a:defRPr>
            </a:pPr>
            <a:r>
              <a:t>TOPIC: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  <a:p>
            <a:pPr algn="ctr">
              <a:defRPr sz="1500" b="1">
                <a:solidFill>
                  <a:srgbClr val="186A3B"/>
                </a:solidFill>
                <a:latin typeface="Calibri"/>
              </a:defRPr>
            </a:pPr>
            <a:r>
              <a:t>MOBILE BASED CROP DISEASE DETECTION AND ADVISORY SYSTEM FOR TOMATO AND MAIZE CROPS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202DACC6-899E-F364-C1ED-A1D010852B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70161" y="1062040"/>
            <a:ext cx="777870" cy="681212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:a16="http://schemas.microsoft.com/office/drawing/2014/main" id="{634DA8E0-CB1A-1C3E-ECCA-359882B70579}"/>
              </a:ext>
            </a:extLst>
          </p:cNvPr>
          <p:cNvSpPr txBox="1">
            <a:spLocks/>
          </p:cNvSpPr>
          <p:nvPr/>
        </p:nvSpPr>
        <p:spPr>
          <a:xfrm>
            <a:off x="892221" y="5248476"/>
            <a:ext cx="7359556" cy="420324"/>
          </a:xfrm>
          <a:prstGeom prst="rect">
            <a:avLst/>
          </a:prstGeom>
        </p:spPr>
        <p:txBody>
          <a:bodyPr vert="horz" lIns="68580" tIns="34290" rIns="68580" bIns="3429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1800" dirty="0">
                <a:latin typeface="Arial Black" panose="020B0A04020102020204" pitchFamily="34" charset="0"/>
              </a:rPr>
              <a:t>2025/2026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ED9E8D0B-F79B-8477-CAF3-16BCCA1596EE}"/>
              </a:ext>
            </a:extLst>
          </p:cNvPr>
          <p:cNvSpPr/>
          <p:nvPr/>
        </p:nvSpPr>
        <p:spPr>
          <a:xfrm>
            <a:off x="856396" y="3119008"/>
            <a:ext cx="7431207" cy="5385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>
              <a:defRPr sz="1700" b="1">
                <a:solidFill>
                  <a:srgbClr val="154360"/>
                </a:solidFill>
                <a:latin typeface="Calibri"/>
              </a:defRPr>
            </a:pPr>
            <a:r>
              <a:t>GROUP 5</a:t>
            </a:r>
            <a:endParaRPr lang="en-US" sz="2100" dirty="0">
              <a:solidFill>
                <a:srgbClr val="FF0000"/>
              </a:solidFill>
              <a:latin typeface="Arial Black" panose="020B0A04020102020204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" y="4297680"/>
            <a:ext cx="743407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154360"/>
                </a:solidFill>
                <a:latin typeface="Calibri"/>
              </a:defRPr>
            </a:pPr>
            <a:r>
              <a:t>PROJECT TEAM (PRESENTERS):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Ntiamoah Prince Agyei (STUBTECH220135)  |  Adjei Sarfo Joseph (STUBTECH221244)</a:t>
            </a:r>
          </a:p>
          <a:p>
            <a:pPr algn="ctr">
              <a:defRPr sz="950" b="1">
                <a:solidFill>
                  <a:srgbClr val="2C3E50"/>
                </a:solidFill>
                <a:latin typeface="Calibri"/>
              </a:defRPr>
            </a:pPr>
            <a:r>
              <a:t>Abdul Wasiu Abubakr (STUBTECH220035)  |  Lomotey Nathaniel Julian (STUBTECH220073)</a:t>
            </a:r>
          </a:p>
          <a:p>
            <a:pPr algn="ctr">
              <a:defRPr sz="950" i="1">
                <a:solidFill>
                  <a:srgbClr val="186A3B"/>
                </a:solidFill>
                <a:latin typeface="Calibri"/>
              </a:defRPr>
            </a:pPr>
            <a:r>
              <a:t>Supervisors: Mr. Buabeng Solomon &amp; Mrs. Awuti Mensah</a:t>
            </a:r>
          </a:p>
        </p:txBody>
      </p:sp>
    </p:spTree>
    <p:extLst>
      <p:ext uri="{BB962C8B-B14F-4D97-AF65-F5344CB8AC3E}">
        <p14:creationId xmlns:p14="http://schemas.microsoft.com/office/powerpoint/2010/main" val="37710306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400" advTm="10000">
        <p14:reveal/>
      </p:transition>
    </mc:Choice>
    <mc:Fallback xmlns="">
      <p:transition spd="slow" advTm="10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9F760-C0BE-E7F9-6428-BFA2296C72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Problem Study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29413A-95CB-8384-B46B-14ED3A858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Economic Importance: </a:t>
            </a:r>
            <a:r>
              <a:rPr sz="1300">
                <a:solidFill>
                  <a:srgbClr val="2C3E50"/>
                </a:solidFill>
                <a:latin typeface="Calibri"/>
              </a:rPr>
              <a:t>Agriculture contributes ~20% of Ghana's GDP and employs over 40% of the rural workforce.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Staple Crop Vulnerability: </a:t>
            </a:r>
            <a:r>
              <a:rPr sz="1300">
                <a:solidFill>
                  <a:srgbClr val="2C3E50"/>
                </a:solidFill>
                <a:latin typeface="Calibri"/>
              </a:rPr>
              <a:t>Tomato and Maize face destructive fungal, bacterial, and viral pathogens, causing 30% to 80% annual harvest losses.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(Shrivastava et al., 2023)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Severe Extension Shortage: </a:t>
            </a:r>
            <a:r>
              <a:rPr sz="1300">
                <a:solidFill>
                  <a:srgbClr val="2C3E50"/>
                </a:solidFill>
                <a:latin typeface="Calibri"/>
              </a:rPr>
              <a:t>Developing farming districts average only 1 agricultural extension officer per 1,500+ smallholder farmers.</a:t>
            </a:r>
            <a:r>
              <a:rPr sz="1150" i="1">
                <a:solidFill>
                  <a:srgbClr val="B46E00"/>
                </a:solidFill>
                <a:latin typeface="Calibri"/>
              </a:rPr>
              <a:t> (Danquah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Diagnostic Misclassification: </a:t>
            </a:r>
            <a:r>
              <a:rPr sz="1300">
                <a:solidFill>
                  <a:srgbClr val="2C3E50"/>
                </a:solidFill>
                <a:latin typeface="Calibri"/>
              </a:rPr>
              <a:t>Visual symptom overlap between blights and leaf spots leads to improper agrochemical application and crop damage.</a:t>
            </a:r>
            <a:r>
              <a:rPr sz="1150" i="1">
                <a:solidFill>
                  <a:srgbClr val="B46E00"/>
                </a:solidFill>
                <a:latin typeface="Calibri"/>
              </a:rPr>
              <a:t> (Okafor &amp; Appiah,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The Core Need: </a:t>
            </a:r>
            <a:r>
              <a:rPr sz="1300">
                <a:solidFill>
                  <a:srgbClr val="2C3E50"/>
                </a:solidFill>
                <a:latin typeface="Calibri"/>
              </a:rPr>
              <a:t>A low-latency, 100% offline, intelligent mobile diagnostic tool providing instant verified agronomic advice.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CA0426B-CDE0-A840-054C-EFC04159CE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3C9C44-F35E-F54C-61F7-63BA232B4E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2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D1B6AF3-AD91-0E23-E0E5-1F5F54A39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09997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50184C-73F4-922C-E3CF-333D15837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B3835D-3997-C868-D250-1D96F3E7C9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Research Gap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9A96DB-80CB-181E-23D9-05FF8549A1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Heavy Cloud Model Dependency: </a:t>
            </a:r>
            <a:r>
              <a:rPr sz="1200">
                <a:solidFill>
                  <a:srgbClr val="2C3E50"/>
                </a:solidFill>
                <a:latin typeface="Calibri"/>
              </a:rPr>
              <a:t>Prior CNN architectures (AlexNet, DenseNet-121 &gt;100 MB) rely on cloud servers and GPU clusters, unviable for remote rural farms.</a:t>
            </a:r>
            <a:r>
              <a:rPr sz="1050" i="1">
                <a:solidFill>
                  <a:srgbClr val="B46E00"/>
                </a:solidFill>
                <a:latin typeface="Calibri"/>
              </a:rPr>
              <a:t> (Mohanty et al., 2016; Too et al.,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Spatial Lesion Information Loss: </a:t>
            </a:r>
            <a:r>
              <a:rPr sz="1200">
                <a:solidFill>
                  <a:srgbClr val="2C3E50"/>
                </a:solidFill>
                <a:latin typeface="Calibri"/>
              </a:rPr>
              <a:t>Conventional channel attention (SE-Net) compresses channels via global average pooling, discarding vital spatial lesion cues.</a:t>
            </a:r>
            <a:r>
              <a:rPr sz="1050" i="1">
                <a:solidFill>
                  <a:srgbClr val="B46E00"/>
                </a:solidFill>
                <a:latin typeface="Calibri"/>
              </a:rPr>
              <a:t> (Hu et al., 2018; Misra et al., 2021)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Black-Box AI Trust Barrier: </a:t>
            </a:r>
            <a:r>
              <a:rPr sz="1200">
                <a:solidFill>
                  <a:srgbClr val="2C3E50"/>
                </a:solidFill>
                <a:latin typeface="Calibri"/>
              </a:rPr>
              <a:t>Standard deep networks output raw labels without visual explanations, causing skepticism among cautious farmers and agronomists.</a:t>
            </a:r>
            <a:r>
              <a:rPr sz="105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Rural Connectivity Constraints: </a:t>
            </a:r>
            <a:r>
              <a:rPr sz="1200">
                <a:solidFill>
                  <a:srgbClr val="2C3E50"/>
                </a:solidFill>
                <a:latin typeface="Calibri"/>
              </a:rPr>
              <a:t>Sub-Saharan rural farming belts face widespread cellular blind-spots, rendering cloud-dependent diagnostic APIs unusable.</a:t>
            </a:r>
            <a:r>
              <a:rPr sz="1050" i="1">
                <a:solidFill>
                  <a:srgbClr val="B46E00"/>
                </a:solidFill>
                <a:latin typeface="Calibri"/>
              </a:rPr>
              <a:t> (Mishra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Fragmented Actionable Remedies: </a:t>
            </a:r>
            <a:r>
              <a:rPr sz="1200">
                <a:solidFill>
                  <a:srgbClr val="2C3E50"/>
                </a:solidFill>
                <a:latin typeface="Calibri"/>
              </a:rPr>
              <a:t>Existing diagnostic tools identify pathologies without embedding localized, actionable chemical and organic treatment protocols.</a:t>
            </a:r>
            <a:r>
              <a:rPr sz="1050" i="1">
                <a:solidFill>
                  <a:srgbClr val="B46E00"/>
                </a:solidFill>
                <a:latin typeface="Calibri"/>
              </a:rPr>
              <a:t> (Silva &amp; Santos, 2025)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4CB988-274E-3DC7-0570-AD12F0235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3C6ABA-09E3-D161-E003-71FFCDE6C4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3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42399C8-9CA3-49F7-1975-B815906932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02104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69B51-39F8-7CC5-2700-CF3FFA3D2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DA8394-76E1-ACB5-34DC-E52BE5413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Objectives (General and Specific)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E5546F-F567-BF9B-0FB1-9C0373F21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50">
                <a:solidFill>
                  <a:srgbClr val="154360"/>
                </a:solidFill>
                <a:latin typeface="Calibri"/>
              </a:rPr>
              <a:t>General Objective (Scientific AI Research): </a:t>
            </a:r>
            <a:r>
              <a:rPr sz="1150">
                <a:solidFill>
                  <a:srgbClr val="2C3E50"/>
                </a:solidFill>
                <a:latin typeface="Calibri"/>
              </a:rPr>
              <a:t>Design, train, optimize, and empirically validate an attention-enhanced, INT8-quantized deep learning model with visual Grad-CAM explainability for accurate 14-class Tomato and Maize pathology diagnosis.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50">
                <a:solidFill>
                  <a:srgbClr val="154360"/>
                </a:solidFill>
                <a:latin typeface="Calibri"/>
              </a:rPr>
              <a:t>General Objective (Mobile Model Integration): </a:t>
            </a:r>
            <a:r>
              <a:rPr sz="1150">
                <a:solidFill>
                  <a:srgbClr val="2C3E50"/>
                </a:solidFill>
                <a:latin typeface="Calibri"/>
              </a:rPr>
              <a:t>Engineer and deploy a cross-platform, 100% offline Flutter mobile application embedding the lightweight on-device inference runtime paired with a local SQLite agronomic treatment database.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1 (Model Architecture): </a:t>
            </a:r>
            <a:r>
              <a:rPr sz="1100">
                <a:solidFill>
                  <a:srgbClr val="2C3E50"/>
                </a:solidFill>
                <a:latin typeface="Calibri"/>
              </a:rPr>
              <a:t>Train an EfficientNet-B0 backbone fused with a 3-branch Triplet Attention mechanism across 14 Tomato &amp; Maize categories.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2 (Edge Quantization): </a:t>
            </a:r>
            <a:r>
              <a:rPr sz="1100">
                <a:solidFill>
                  <a:srgbClr val="2C3E50"/>
                </a:solidFill>
                <a:latin typeface="Calibri"/>
              </a:rPr>
              <a:t>Quantize the deep network using INT8 Post-Training Quantization to achieve &lt;10 MB footprint and &lt;100 ms mobile latency.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3 (Explainability Layer): </a:t>
            </a:r>
            <a:r>
              <a:rPr sz="1100">
                <a:solidFill>
                  <a:srgbClr val="2C3E50"/>
                </a:solidFill>
                <a:latin typeface="Calibri"/>
              </a:rPr>
              <a:t>Embed Grad-CAM visual heatmaps for transparent, verified crop pathology decision-making directly on-device.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4 (Mobile &amp; SQLite Integration): </a:t>
            </a:r>
            <a:r>
              <a:rPr sz="1100">
                <a:solidFill>
                  <a:srgbClr val="2C3E50"/>
                </a:solidFill>
                <a:latin typeface="Calibri"/>
              </a:rPr>
              <a:t>Build a cross-platform Flutter application with an embedded offline SQLite disease dictionary and treatment protocol repository.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100">
                <a:solidFill>
                  <a:srgbClr val="154360"/>
                </a:solidFill>
                <a:latin typeface="Calibri"/>
              </a:rPr>
              <a:t>Specific Objective 5 (Field Usability Evaluation): </a:t>
            </a:r>
            <a:r>
              <a:rPr sz="1100">
                <a:solidFill>
                  <a:srgbClr val="2C3E50"/>
                </a:solidFill>
                <a:latin typeface="Calibri"/>
              </a:rPr>
              <a:t>Empirically evaluate real-world usability and farmer acceptance using the System Usability Scale (SUS).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248B947-9CEF-C919-86DD-00BD064662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B6AA406-B01E-D7D2-3BF6-0074AEEBE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4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3B5EEDC3-D0BB-BD3E-54E0-096A9DB697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3589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3240A-5E83-381C-8FAB-0F64FA682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AC335-F18F-F989-6A2E-E1D185E40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900083-66ED-AB35-FDD3-60A37ACB2C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 (Data Prep &amp; Augmentation): </a:t>
            </a:r>
            <a:r>
              <a:rPr sz="1300">
                <a:solidFill>
                  <a:srgbClr val="2C3E50"/>
                </a:solidFill>
                <a:latin typeface="Calibri"/>
              </a:rPr>
              <a:t>224x224 RGB normalization, random rotation, zoom, flips, and lighting adjustments.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 (Model Architecture): </a:t>
            </a:r>
            <a:r>
              <a:rPr sz="1300">
                <a:solidFill>
                  <a:srgbClr val="2C3E50"/>
                </a:solidFill>
                <a:latin typeface="Calibri"/>
              </a:rPr>
              <a:t>EfficientNet-B0 compound scaling backbone fused with a 3-branch Triplet Attention module.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3 (Transfer Learning): </a:t>
            </a:r>
            <a:r>
              <a:rPr sz="1300">
                <a:solidFill>
                  <a:srgbClr val="2C3E50"/>
                </a:solidFill>
                <a:latin typeface="Calibri"/>
              </a:rPr>
              <a:t>Two-phase training schedule: feature head extraction (10 epochs) followed by fine-tuning (30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4 (INT8 Edge Quantization): </a:t>
            </a:r>
            <a:r>
              <a:rPr sz="1300">
                <a:solidFill>
                  <a:srgbClr val="2C3E50"/>
                </a:solidFill>
                <a:latin typeface="Calibri"/>
              </a:rPr>
              <a:t>TensorFlow Lite post-training quantization with representative dataset calibration (20.3 MB -&gt; 5.1 MB).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5 (Mobile App Engineering): </a:t>
            </a:r>
            <a:r>
              <a:rPr sz="1300">
                <a:solidFill>
                  <a:srgbClr val="2C3E50"/>
                </a:solidFill>
                <a:latin typeface="Calibri"/>
              </a:rPr>
              <a:t>Cross-platform Flutter frontend + on-device TFLite interpreter + local SQLite treatment engine (100% offline).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2024; Varghese &amp; George, 2025)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6 (XAI &amp; Field Testing): </a:t>
            </a:r>
            <a:r>
              <a:rPr sz="1300">
                <a:solidFill>
                  <a:srgbClr val="2C3E50"/>
                </a:solidFill>
                <a:latin typeface="Calibri"/>
              </a:rPr>
              <a:t>Grad-CAM visual attention verification + empirical 10-item Likert SUS evaluation on 15 agricultural participants.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3CA28F-E6DB-D297-22A7-E45FA85D8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F75ACC-B708-2867-505E-BC857D564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5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9415054F-97E5-C273-E8A6-5E6F26436B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5280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4956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DBB24-0FFA-6EC4-E7B3-4E2F935784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EFF3D-5FD3-D839-F9B3-AF241BF1E2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Methodology Flowchart &amp; System Architecture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73334F-3CBB-6636-B79A-E398700C3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59625B-6460-C54C-B7F0-FB8A076DF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7665C0-1E72-EF7E-949F-EC5F8B8DC2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6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55ABF74-1873-2904-1A83-BBEF033249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Sample-image-per-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06642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6835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5F60B-3BEC-347F-8C85-67F8D9F9E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51387E-0502-6CDE-9FA2-3DF6E4CB9E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Dataset Preprocessing and Augmentation Pipeline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50B063-0A9C-82AB-63CC-60F7425888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AFA67F0-6A62-77B9-172F-287DBC82E6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43310B-1336-C966-CF87-D1ED1BE0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7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E23E01-2CB8-1F48-B729-63BB3EBE2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80160"/>
            <a:ext cx="3520440" cy="2141269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097280"/>
          <a:ext cx="7863840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63040"/>
                <a:gridCol w="4389120"/>
              </a:tblGrid>
              <a:tr h="44057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Augmentation Technique</a:t>
                      </a:r>
                    </a:p>
                  </a:txBody>
                  <a:tcPr>
                    <a:solidFill>
                      <a:srgbClr val="186A3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 Value</a:t>
                      </a:r>
                    </a:p>
                  </a:txBody>
                  <a:tcPr>
                    <a:solidFill>
                      <a:srgbClr val="186A3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Technical &amp; Agronomic Rationale</a:t>
                      </a:r>
                    </a:p>
                  </a:txBody>
                  <a:tcPr>
                    <a:solidFill>
                      <a:srgbClr val="186A3B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Random Rotation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±30°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Simulates varied leaf angles relative to smartphone camera in field conditions.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Width Shift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Handles off-centre leaf positioning within the camera viewfinder.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Height Shift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±15%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Compensates for vertical framing variations during handheld farmer capture.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Shear Angle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Simulates perspective distortion caused by oblique camera tilting.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Random Zoom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±20%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Replicates varying handheld distances from leaf surface to camera lens.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Horizontal Flip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Enabled (50%)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Leaf disease symptom patterns exhibit vertical bilateral symmetry.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Vertical Flip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Enabled (50%)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Accounts for inverted or downward-hanging leaves on crop canopies.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Brightness Range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[0.7 – 1.3]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Simulates variable outdoor solar illumination (direct sunlight to heavy overcast).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Channel Shift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±25.0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Models sensor color balance variations across budget smartphone models.</a:t>
                      </a:r>
                    </a:p>
                  </a:txBody>
                  <a:tcPr>
                    <a:solidFill>
                      <a:srgbClr val="F5F8FA"/>
                    </a:solidFill>
                  </a:tcPr>
                </a:tc>
              </a:tr>
              <a:tr h="44058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54360"/>
                          </a:solidFill>
                          <a:latin typeface="Calibri"/>
                        </a:rPr>
                        <a:t>Fill Mode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86A3B"/>
                          </a:solidFill>
                          <a:latin typeface="Calibri"/>
                        </a:rPr>
                        <a:t>Reflect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C3E50"/>
                          </a:solidFill>
                          <a:latin typeface="Calibri"/>
                        </a:rPr>
                        <a:t>Maintains natural leaf texture continuity at image borders after geometric transforms.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076993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AEEF3D-4ED2-EF25-59A5-3DD8EE72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D143-5652-CCB1-152D-1EFAB7DFE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PlantVillage 14-Class Sample Leaf Dataset Grid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26A9-915A-E8DF-54BF-F158004FE4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>
              <a:latin typeface="Comic Sans MS" panose="030F0702030302020204" pitchFamily="66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9F3DA1-01C9-0055-47DC-ACEEEF4AE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EA112D-079E-FD91-4927-B0C674D9E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8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C2C4480C-6140-5314-07E2-1F38DB9B0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384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D6705-EF57-22B8-78D5-08C19BC736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9B4E8-871E-D2B0-AB2E-A6A8E1423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Model Architecture &amp; Triplet Attention</a:t>
            </a:r>
            <a:endParaRPr lang="en-GH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BABDCC-CB86-417E-F398-74AF4030A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EfficientNet-B0 Backbone: </a:t>
            </a:r>
            <a:r>
              <a:rPr sz="1250">
                <a:solidFill>
                  <a:srgbClr val="2C3E50"/>
                </a:solidFill>
                <a:latin typeface="Calibri"/>
              </a:rPr>
              <a:t>Compound scaling uniformly scales depth (d = alpha^phi), width (w = beta^phi), and resolution (r = gamma^phi) for optimal FLOPs efficiency.</a:t>
            </a:r>
            <a:r>
              <a:rPr sz="1100" i="1">
                <a:solidFill>
                  <a:srgbClr val="B46E00"/>
                </a:solidFill>
                <a:latin typeface="Calibri"/>
              </a:rPr>
              <a:t> (Tan &amp; Le, 2019)</a:t>
            </a:r>
            <a:endParaRPr lang="en-GH" dirty="0">
              <a:latin typeface="Comic Sans MS" panose="030F0702030302020204" pitchFamily="66" charset="0"/>
            </a:endParaRP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Triplet Attention Module: </a:t>
            </a:r>
            <a:r>
              <a:rPr sz="1250">
                <a:solidFill>
                  <a:srgbClr val="2C3E50"/>
                </a:solidFill>
                <a:latin typeface="Calibri"/>
              </a:rPr>
              <a:t>Constructs cross-dimension tensor interaction without dimensionality reduction across 3 parallel rotation branches:</a:t>
            </a:r>
            <a:r>
              <a:rPr sz="1100" i="1">
                <a:solidFill>
                  <a:srgbClr val="B46E00"/>
                </a:solidFill>
                <a:latin typeface="Calibri"/>
              </a:rPr>
              <a:t> (Misra et al., 2021; Liu &amp; Wang, 2025)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1 (Channel-Height):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(H x C x W) to capture spatial height and channel correlations.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2 (Channel-Width): </a:t>
            </a:r>
            <a:r>
              <a:rPr sz="1200">
                <a:solidFill>
                  <a:srgbClr val="2C3E50"/>
                </a:solidFill>
                <a:latin typeface="Calibri"/>
              </a:rPr>
              <a:t>Rotates tensor to (W x H x C) to capture spatial width and channel correlations.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00">
                <a:solidFill>
                  <a:srgbClr val="154360"/>
                </a:solidFill>
                <a:latin typeface="Calibri"/>
              </a:rPr>
              <a:t>Branch 3 (Spatial H x W): </a:t>
            </a:r>
            <a:r>
              <a:rPr sz="1200">
                <a:solidFill>
                  <a:srgbClr val="2C3E50"/>
                </a:solidFill>
                <a:latin typeface="Calibri"/>
              </a:rPr>
              <a:t>Applies spatial attention over (C x H x W) via 7x7 spatial convolution.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Advantage over SE-Net &amp; CBAM: </a:t>
            </a:r>
            <a:r>
              <a:rPr sz="1250">
                <a:solidFill>
                  <a:srgbClr val="2C3E50"/>
                </a:solidFill>
                <a:latin typeface="Calibri"/>
              </a:rPr>
              <a:t>Preserves fine-grained spatial lesion boundaries (e.g. Septoria spots, rust pustules) without parameter overhead.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37E57-F58D-53FE-EAB4-081F3FE38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8982B8-4EDB-0098-7A0F-95E7AD53C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9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16805C9-49BA-81BA-1AF1-0643DECB5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7" name="Picture 6" descr="training-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34440"/>
            <a:ext cx="3520440" cy="11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141008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B061D-70D6-5487-5A04-EDC856BB6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7"/>
            <a:ext cx="7886700" cy="720723"/>
          </a:xfrm>
        </p:spPr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Triplet Attention Module Architecture Diagram</a:t>
            </a:r>
            <a:endParaRPr lang="en-GH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BC4D72-255F-741E-B978-92FDF3B233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9C16A16-D520-ACBF-A6AB-6E8FE87B69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8AF29C7-C063-5C9E-C4F5-10D2EFFBCE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144000" y="0"/>
          </a:xfrm>
        </p:spPr>
        <p:txBody>
          <a:bodyPr/>
          <a:lstStyle/>
          <a:p>
            <a:pPr>
              <a:defRPr b="1" sz="1300">
                <a:solidFill>
                  <a:srgbClr val="186A3B"/>
                </a:solidFill>
              </a:defRPr>
            </a:pPr>
            <a:endParaRPr lang="en-GH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282B14-0D30-16BC-D124-A3DE0BEC45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  <a:endParaRPr lang="en-GH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EFEAC12F-A2A7-AC4C-3496-9C49252A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 sz="1000"/>
            </a:pPr>
            <a:r>
              <a:t>COMPUTER SCIENCE DEPARTMENT - 2025/2026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2566FA5-8C66-60CF-25C4-70FC1221C0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 sz="1000"/>
            </a:pPr>
            <a:r>
              <a:t>10</a:t>
            </a:r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7D219637-5FD4-2782-DFD9-9FF795A10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 sz="1000"/>
            </a:pPr>
            <a:r>
              <a:t>AUGUST 2026</a:t>
            </a:r>
            <a:endParaRPr lang="en-US" dirty="0"/>
          </a:p>
        </p:txBody>
      </p:sp>
      <p:pic>
        <p:nvPicPr>
          <p:cNvPr id="10" name="Picture 9" descr="confusion_matrix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3931920"/>
            <a:ext cx="3017520" cy="258644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3482531"/>
      </p:ext>
    </p:extLst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ext cx="411480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1: Feature Extraction: </a:t>
            </a:r>
            <a:r>
              <a:rPr sz="1300">
                <a:solidFill>
                  <a:srgbClr val="2C3E50"/>
                </a:solidFill>
                <a:latin typeface="Calibri"/>
              </a:rPr>
              <a:t>Frozen EfficientNet-B0 backbone, classification head trained with learning rate eta = 1e-3 (10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Phase 2: Fine-Tuning: </a:t>
            </a:r>
            <a:r>
              <a:rPr sz="1300">
                <a:solidFill>
                  <a:srgbClr val="2C3E50"/>
                </a:solidFill>
                <a:latin typeface="Calibri"/>
              </a:rPr>
              <a:t>Unfrozen backbone, all layers fine-tuned end-to-end with reduced learning rate eta = 1e-5 (30 epochs).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Categorical Cross-Entropy with Label Smoothing: </a:t>
            </a:r>
            <a:r>
              <a:rPr sz="1300">
                <a:solidFill>
                  <a:srgbClr val="2C3E50"/>
                </a:solidFill>
                <a:latin typeface="Calibri"/>
              </a:rPr>
              <a:t>Replaces hard one-hot targets with smoothed distribution (eps = 0.1) to prevent overconfident false positives.</a:t>
            </a:r>
            <a:r>
              <a:rPr sz="1150" i="1">
                <a:solidFill>
                  <a:srgbClr val="B46E00"/>
                </a:solidFill>
                <a:latin typeface="Calibri"/>
              </a:rPr>
              <a:t> (Szegedy et al., 2016)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Adam Optimizer: </a:t>
            </a:r>
            <a:r>
              <a:rPr sz="1300">
                <a:solidFill>
                  <a:srgbClr val="2C3E50"/>
                </a:solidFill>
                <a:latin typeface="Calibri"/>
              </a:rPr>
              <a:t>Configured with beta1 = 0.9, beta2 = 0.999, eps = 1e-7 for smooth gradient convergence.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(Kingma &amp; Ba, 2014)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Adaptive Callbacks: </a:t>
            </a:r>
            <a:r>
              <a:rPr sz="1300">
                <a:solidFill>
                  <a:srgbClr val="2C3E50"/>
                </a:solidFill>
                <a:latin typeface="Calibri"/>
              </a:rPr>
              <a:t>Early stopping (patience=7 on val_loss) and ReduceLROnPlateau (factor=0.2, patience=3) guarantee robust generalization.</a:t>
            </a:r>
          </a:p>
        </p:txBody>
      </p:sp>
      <p:pic>
        <p:nvPicPr>
          <p:cNvPr id="4" name="Picture 3" descr="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188720"/>
            <a:ext cx="3520440" cy="12321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Training and Validation Accuracy &amp; Loss Curves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  <a:ext cx="4297680" c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Diagnose_repor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6360" y="1143000"/>
            <a:ext cx="3108960" cy="6181874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7132320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Results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Test Classification Accuracy: </a:t>
            </a:r>
            <a:r>
              <a:rPr sz="1300">
                <a:solidFill>
                  <a:srgbClr val="2C3E50"/>
                </a:solidFill>
                <a:latin typeface="Calibri"/>
              </a:rPr>
              <a:t>97.85% INT8 test accuracy across 14 classes (FP32 baseline: 98.24% - only 0.39% trade-off!).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Balanced F1-Scores: </a:t>
            </a:r>
            <a:r>
              <a:rPr sz="1300">
                <a:solidFill>
                  <a:srgbClr val="2C3E50"/>
                </a:solidFill>
                <a:latin typeface="Calibri"/>
              </a:rPr>
              <a:t>Weighted Precision: 0.979 | Weighted Recall: 0.978 | Macro F1-Score: 0.978 (12/14 classes &gt;= 0.95).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Ultra-Low Mobile Latency: </a:t>
            </a:r>
            <a:r>
              <a:rPr sz="1300">
                <a:solidFill>
                  <a:srgbClr val="2C3E50"/>
                </a:solidFill>
                <a:latin typeface="Calibri"/>
              </a:rPr>
              <a:t>92 ms per image on mid-range Android smartphone (vs. 280 ms for MobileNetV2 in literature).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Extreme Edge Footprint: </a:t>
            </a:r>
            <a:r>
              <a:rPr sz="1300">
                <a:solidFill>
                  <a:srgbClr val="2C3E50"/>
                </a:solidFill>
                <a:latin typeface="Calibri"/>
              </a:rPr>
              <a:t>5.1 MB INT8 TFLite model size (74.9% storage reduction from 20.3 MB FP32 Keras).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Comparative Literature Benchmark: </a:t>
            </a:r>
            <a:r>
              <a:rPr sz="1250">
                <a:solidFill>
                  <a:srgbClr val="2C3E50"/>
                </a:solidFill>
                <a:latin typeface="Calibri"/>
              </a:rPr>
              <a:t>Outperforms AlexNet (~200 MB, 93.5%), DenseNet-121 (~130 MB, 97.2%), and MobileNetV2 (14 MB, 95.8%).</a:t>
            </a:r>
            <a:r>
              <a:rPr sz="1100" i="1">
                <a:solidFill>
                  <a:srgbClr val="B46E00"/>
                </a:solidFill>
                <a:latin typeface="Calibri"/>
              </a:rPr>
              <a:t> (Mohanty et al., 2016; Too et al., 2019; Agarwal et al., 2021)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14-Class Confusion Matrix &amp; Per-Class F1-Scores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5" name="Picture 4" descr="per_class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97280"/>
            <a:ext cx="3886200" cy="475488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234440"/>
            <a:ext cx="393192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Cross-Platform Flutter Architecture: </a:t>
            </a:r>
            <a:r>
              <a:rPr sz="1300">
                <a:solidFill>
                  <a:srgbClr val="2C3E50"/>
                </a:solidFill>
                <a:latin typeface="Calibri"/>
              </a:rPr>
              <a:t>Native compilation to Android ARM64 binaries for smooth 60 FPS user experience.</a:t>
            </a:r>
            <a:r>
              <a:rPr sz="1150" i="1">
                <a:solidFill>
                  <a:srgbClr val="B46E00"/>
                </a:solidFill>
                <a:latin typeface="Calibri"/>
              </a:rPr>
              <a:t> (Sarker et al., 2024)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Real-Time Camera Scanner: </a:t>
            </a:r>
            <a:r>
              <a:rPr sz="1300">
                <a:solidFill>
                  <a:srgbClr val="2C3E50"/>
                </a:solidFill>
                <a:latin typeface="Calibri"/>
              </a:rPr>
              <a:t>Interactive camera interface with leaf framing guide, auto-resizing (224x224), and normalization.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Embedded SQLite Database: </a:t>
            </a:r>
            <a:r>
              <a:rPr sz="1300">
                <a:solidFill>
                  <a:srgbClr val="2C3E50"/>
                </a:solidFill>
                <a:latin typeface="Calibri"/>
              </a:rPr>
              <a:t>100% offline storage of 14 disease profiles, chemical agrochemical dosages, and organic cultural remedies.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Diagnostic Confidence Slider: </a:t>
            </a:r>
            <a:r>
              <a:rPr sz="1300">
                <a:solidFill>
                  <a:srgbClr val="2C3E50"/>
                </a:solidFill>
                <a:latin typeface="Calibri"/>
              </a:rPr>
              <a:t>Default 80% threshold flags low-certainty scans to prevent misdiagnosis under poor field lighting.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Historical Diagnostic Audit Log: </a:t>
            </a:r>
            <a:r>
              <a:rPr sz="1300">
                <a:solidFill>
                  <a:srgbClr val="2C3E50"/>
                </a:solidFill>
                <a:latin typeface="Calibri"/>
              </a:rPr>
              <a:t>Persists past scans, disease severity, timestamps, and GPS coordinates for farm health monitoring.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Mobile Application Interface &amp; Treatment UI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>
            <a:pPr>
              <a:spcBef>
                <a:spcPts val="200"/>
              </a:spcBef>
              <a:spcAft>
                <a:spcPts val="500"/>
              </a:spcAft>
            </a:pPr>
          </a:p>
        </p:txBody>
      </p:sp>
      <p:pic>
        <p:nvPicPr>
          <p:cNvPr id="4" name="Picture 3" descr="Screenshot 2026-08-01 1606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6" name="Picture 5" descr="full_report_Screen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051560"/>
            <a:ext cx="2560320" cy="3436346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1051560"/>
            <a:ext cx="2560320" cy="509095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051560"/>
            <a:ext cx="2560320" cy="512793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Heatmaps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Mathematical Formulation: </a:t>
            </a:r>
            <a:r>
              <a:rPr sz="1300">
                <a:solidFill>
                  <a:srgbClr val="2C3E50"/>
                </a:solidFill>
                <a:latin typeface="Calibri"/>
              </a:rPr>
              <a:t>Computes gradients of predicted class score y^c with respect to final conv feature maps A^k.</a:t>
            </a:r>
            <a:r>
              <a:rPr sz="1150" i="1">
                <a:solidFill>
                  <a:srgbClr val="B46E00"/>
                </a:solidFill>
                <a:latin typeface="Calibri"/>
              </a:rPr>
              <a:t> (Selvaraju et al., 2017)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Heatmap Color Spectrum Guide: </a:t>
            </a:r>
            <a:r>
              <a:rPr sz="1300">
                <a:solidFill>
                  <a:srgbClr val="2C3E50"/>
                </a:solidFill>
                <a:latin typeface="Calibri"/>
              </a:rPr>
              <a:t>Essential visual verification guide for farmers and agricultural extension officers:</a:t>
            </a:r>
            <a:r>
              <a:rPr sz="1150" i="1">
                <a:solidFill>
                  <a:srgbClr val="B46E00"/>
                </a:solidFill>
                <a:latin typeface="Calibri"/>
              </a:rPr>
              <a:t> (Rahman et al., 2024; Vyas et al., 2023)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Red &amp; Yellow (Warm Tones): </a:t>
            </a:r>
            <a:r>
              <a:rPr sz="1250">
                <a:solidFill>
                  <a:srgbClr val="2C3E50"/>
                </a:solidFill>
                <a:latin typeface="Calibri"/>
              </a:rPr>
              <a:t>Peak neural attention - directly focused on necrotic lesions, chlorotic rings, and rust pustules.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Green (Transitional): </a:t>
            </a:r>
            <a:r>
              <a:rPr sz="1250">
                <a:solidFill>
                  <a:srgbClr val="2C3E50"/>
                </a:solidFill>
                <a:latin typeface="Calibri"/>
              </a:rPr>
              <a:t>Moderate neural activation marking transitional leaf tissue boundaries.</a:t>
            </a:r>
          </a:p>
          <a:p>
            <a:pPr lvl="1"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Blue &amp; Purple (Cool Tones): </a:t>
            </a:r>
            <a:r>
              <a:rPr sz="1250">
                <a:solidFill>
                  <a:srgbClr val="2C3E50"/>
                </a:solidFill>
                <a:latin typeface="Calibri"/>
              </a:rPr>
              <a:t>Zero neural attention - healthy green leaf tissue, stems, and background soil are ignored.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40/60 Alpha Blending: </a:t>
            </a:r>
            <a:r>
              <a:rPr sz="1300">
                <a:solidFill>
                  <a:srgbClr val="2C3E50"/>
                </a:solidFill>
                <a:latin typeface="Calibri"/>
              </a:rPr>
              <a:t>Heatmap overlaid at 40% opacity over original 60% leaf image for intuitive visual correlation.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Grad-CAM Feature Attention Heatmaps Across Disease Classes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0" y="0"/>
          </a:xfrm>
        </p:spPr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005840"/>
            <a:ext cx="7589520" cy="50292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Conclusion and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Summary of Achievements: </a:t>
            </a:r>
            <a:r>
              <a:rPr sz="1300">
                <a:solidFill>
                  <a:srgbClr val="2C3E50"/>
                </a:solidFill>
                <a:latin typeface="Calibri"/>
              </a:rPr>
              <a:t>Successfully developed a 97.85% accurate, 5.1 MB lightweight, 92 ms fast, 100% offline crop diagnostic mobile system.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Primary Conclusion: </a:t>
            </a:r>
            <a:r>
              <a:rPr sz="1300">
                <a:solidFill>
                  <a:srgbClr val="2C3E50"/>
                </a:solidFill>
                <a:latin typeface="Calibri"/>
              </a:rPr>
              <a:t>INT8-quantized EfficientNet-B0 fused with Triplet Attention proves that high-accuracy, transparent AI is viable on budget mobile devices.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300">
                <a:solidFill>
                  <a:srgbClr val="154360"/>
                </a:solidFill>
                <a:latin typeface="Calibri"/>
              </a:rPr>
              <a:t>Empirical Usability Validation: </a:t>
            </a:r>
            <a:r>
              <a:rPr sz="1300">
                <a:solidFill>
                  <a:srgbClr val="2C3E50"/>
                </a:solidFill>
                <a:latin typeface="Calibri"/>
              </a:rPr>
              <a:t>Attained a System Usability Scale (SUS) score of 76.5 / 100 (Grade B+ 'Good'), confirming strong field acceptability.</a:t>
            </a:r>
            <a:r>
              <a:rPr sz="1150" i="1">
                <a:solidFill>
                  <a:srgbClr val="B46E00"/>
                </a:solidFill>
                <a:latin typeface="Calibri"/>
              </a:rPr>
              <a:t> (Brooke, 1996; Bangor et al., 2008)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1 (Crop Expansion): </a:t>
            </a:r>
            <a:r>
              <a:rPr sz="1250">
                <a:solidFill>
                  <a:srgbClr val="2C3E50"/>
                </a:solidFill>
                <a:latin typeface="Calibri"/>
              </a:rPr>
              <a:t>Extend dataset to Ghanaian staple cash crops: Cassava (mosaic virus), Cocoa (black pod), and Plantain.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2 (Edge YOLO Video): </a:t>
            </a:r>
            <a:r>
              <a:rPr sz="1250">
                <a:solidFill>
                  <a:srgbClr val="2C3E50"/>
                </a:solidFill>
                <a:latin typeface="Calibri"/>
              </a:rPr>
              <a:t>Integrate real-time video stream multi-leaf bounding box detection for drone/tractor mounting.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b="1" sz="1250">
                <a:solidFill>
                  <a:srgbClr val="154360"/>
                </a:solidFill>
                <a:latin typeface="Calibri"/>
              </a:rPr>
              <a:t>Recommendation 3 (Indigenous Voice Audio): </a:t>
            </a:r>
            <a:r>
              <a:rPr sz="1250">
                <a:solidFill>
                  <a:srgbClr val="2C3E50"/>
                </a:solidFill>
                <a:latin typeface="Calibri"/>
              </a:rPr>
              <a:t>Incorporate automated voice audio narration of treatment remedies in Ghanaian languages (Twi, Fante, Ewe, Dagbani).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Agarwal, M., Singh, A., Arjaria, S., Sinha, A., &amp; Gupta, S. (2021). ToLeD: Tomato leaf disease detection using mobile-friendly deep learning. Computers and Electronics in Agriculture, 186, 106208.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Bangor, A., Kortum, P. T., &amp; Miller, J. T. (2008). An empirical evaluation of the system usability scale. International Journal of Human-Computer Interaction, 24(6), 574–594.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Brooke, J. (1996). SUS-A quick and dirty usability scale. Usability Evaluation in Industry, 189(194), 4–7.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Danquah, E. O., Asante, M., &amp; Mensah, K. A. (2024). Smallholder farming and agricultural extension constraints in West Africa. African Journal of Agricultural Research, 19(3), 204–218.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Hu, J., Shen, L., &amp; Sun, G. (2018). Squeeze-and-excitation networks. IEEE/CVF CVPR, 7132–7141.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Hughes, D., &amp; Salathe, M. (2015). An open access repository of images on plant health to enable the development of mobile disease diagnostics. arXiv:1511.08060.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2100" b="1">
                <a:solidFill>
                  <a:srgbClr val="186A3B"/>
                </a:solidFill>
                <a:latin typeface="Calibri"/>
              </a:defRPr>
            </a:pPr>
            <a:r>
              <a:t>References (Part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Misra, D., Shrivastava, S., &amp; Ramasamy, M. (2021). Rotate to attend: Convolutional triplet attention module. IEEE/CVF WACV, 3139–3148.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Mohanty, S. P., Hughes, D. P., &amp; Salathe, M. (2016). Using deep learning for image-based plant disease detection. Frontiers in Plant Science, 7, 1419.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Rahman, T., Al-Mahi, M., &amp; Hossain, M. A. (2024). Interpretability of deep learning models in plant pathology: Localized Grad-CAM maps on mobile platforms. Computers in Biology and Medicine, 170, 107955.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Selvaraju, R. R., Cogswell, M., Das, A., Vedantam, R., Parikh, D., &amp; Batra, D. (2017). Grad-CAM: Visual explanations from deep networks via gradient-based localization. IEEE ICCV, 618–626.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Tan, M., &amp; Le, Q. (2019). EfficientNet: Rethinking model scaling for convolutional neural networks. ICML, 6105–6114.</a:t>
            </a:r>
          </a:p>
          <a:p>
            <a:pPr>
              <a:spcBef>
                <a:spcPts val="200"/>
              </a:spcBef>
              <a:spcAft>
                <a:spcPts val="400"/>
              </a:spcAft>
            </a:pPr>
            <a:r>
              <a:rPr sz="1050">
                <a:solidFill>
                  <a:srgbClr val="2C3E50"/>
                </a:solidFill>
                <a:latin typeface="Calibri"/>
              </a:rPr>
              <a:t>Too, E. C., Yujian, L., Njuki, S., &amp; Yingchun, L. (2019). A comparative study of fine-tuning deep learning models for plant disease identification. Computers and Electronics in Agriculture, 161, 272–279.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498AE89-8FCD-4EF1-A363-DABA159D45FD}">
  <we:reference id="wa200005669" version="2.0.0.0" store="en-US" storeType="OMEX"/>
  <we:alternateReferences>
    <we:reference id="WA200005669" version="2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8230</TotalTime>
  <Words>136</Words>
  <Application>Microsoft Office PowerPoint</Application>
  <PresentationFormat>On-screen Show (4:3)</PresentationFormat>
  <Paragraphs>40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Comic Sans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LAMUSAH DAWDA</dc:creator>
  <cp:lastModifiedBy>LAMUSAH DAWDA</cp:lastModifiedBy>
  <cp:revision>33</cp:revision>
  <dcterms:created xsi:type="dcterms:W3CDTF">2024-07-05T21:31:44Z</dcterms:created>
  <dcterms:modified xsi:type="dcterms:W3CDTF">2026-08-19T13:58:35Z</dcterms:modified>
</cp:coreProperties>
</file>