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81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06" r:id="rId11"/>
    <p:sldId id="315" r:id="rId18"/>
    <p:sldId id="316" r:id="rId19"/>
    <p:sldId id="317" r:id="rId20"/>
    <p:sldId id="318" r:id="rId21"/>
    <p:sldId id="319" r:id="rId22"/>
    <p:sldId id="32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2F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950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16649F-4DE1-32D8-B441-7776453DA9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6D696-6EB7-7E44-0256-D5FE408ED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7877-42AE-4E96-89BB-11C2D6F190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20747-3C87-09B7-09E7-94D45A4DBD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AE67B-4E44-276D-63BE-78F0CC34A4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AF399-67E9-4685-A4F9-94AFEE671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3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B2DE9-CE44-471F-8E0C-C9E006EA2D4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6C53E-F6E7-4CC5-A337-58E99B11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9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44C7F-5835-47AD-99FA-C31C49F425AB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97791-4086-EC5C-BB95-3FD1185F3589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22115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EB0CFC-C148-AE55-0C4C-04490A347861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"/>
            <a:ext cx="7886699" cy="814796"/>
          </a:xfr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112" y="997361"/>
            <a:ext cx="7725237" cy="5179602"/>
          </a:xfrm>
        </p:spPr>
        <p:txBody>
          <a:bodyPr/>
          <a:lstStyle>
            <a:lvl1pPr>
              <a:defRPr sz="3000">
                <a:latin typeface="Comic Sans MS" panose="030F0702030302020204" pitchFamily="66" charset="0"/>
              </a:defRPr>
            </a:lvl1pPr>
            <a:lvl2pPr>
              <a:defRPr>
                <a:latin typeface="Comic Sans MS" panose="030F0702030302020204" pitchFamily="66" charset="0"/>
              </a:defRPr>
            </a:lvl2pPr>
            <a:lvl3pPr>
              <a:defRPr>
                <a:latin typeface="Comic Sans MS" panose="030F0702030302020204" pitchFamily="66" charset="0"/>
              </a:defRPr>
            </a:lvl3pPr>
            <a:lvl4pPr>
              <a:defRPr>
                <a:latin typeface="Comic Sans MS" panose="030F0702030302020204" pitchFamily="66" charset="0"/>
              </a:defRPr>
            </a:lvl4pPr>
            <a:lvl5pPr>
              <a:defRPr>
                <a:latin typeface="Comic Sans MS" panose="030F0702030302020204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95336-2A75-4845-9194-CD5DFCD56D24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429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42F7C8-B66D-F80E-9FE8-00AEDED6F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927056" y="3071512"/>
            <a:ext cx="2659652" cy="4340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C98125-335F-4159-78B6-E3EDE4506FE5}"/>
              </a:ext>
            </a:extLst>
          </p:cNvPr>
          <p:cNvSpPr/>
          <p:nvPr userDrawn="1"/>
        </p:nvSpPr>
        <p:spPr>
          <a:xfrm>
            <a:off x="0" y="-182563"/>
            <a:ext cx="9144000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C4BF0-96F0-FCC9-A270-04D32A508A2A}"/>
              </a:ext>
            </a:extLst>
          </p:cNvPr>
          <p:cNvSpPr/>
          <p:nvPr userDrawn="1"/>
        </p:nvSpPr>
        <p:spPr>
          <a:xfrm>
            <a:off x="637528" y="834501"/>
            <a:ext cx="7886699" cy="10653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5B9C41-54F4-86E0-E424-1A15B998CE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4588" y="4698399"/>
            <a:ext cx="594123" cy="4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6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C987-1608-418C-83FB-0C4F41BDA42F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655E2-BF16-C45F-5728-AF898538E250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3EB4C-9E1E-78BB-0ECA-625FC96CEB4E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163774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37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7798"/>
            <a:ext cx="3886200" cy="47291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47798"/>
            <a:ext cx="3886200" cy="4729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0AE9CB-D8DC-4B64-A879-284BC57FBE70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50623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41608-1095-33E7-7FCE-D7428BB1F835}"/>
              </a:ext>
            </a:extLst>
          </p:cNvPr>
          <p:cNvSpPr/>
          <p:nvPr userDrawn="1"/>
        </p:nvSpPr>
        <p:spPr>
          <a:xfrm>
            <a:off x="4557713" y="1447804"/>
            <a:ext cx="34290" cy="4729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12C1A-4F52-58F4-0D6C-F8FC02A0020B}"/>
              </a:ext>
            </a:extLst>
          </p:cNvPr>
          <p:cNvSpPr/>
          <p:nvPr userDrawn="1"/>
        </p:nvSpPr>
        <p:spPr>
          <a:xfrm>
            <a:off x="628650" y="1098884"/>
            <a:ext cx="7886700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F0B93-013D-CFD6-DAAF-E49CCCB7617A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320549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33758"/>
          </a:xfr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34930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omic Sans MS" panose="030F0702030302020204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226299"/>
            <a:ext cx="3868340" cy="3963364"/>
          </a:xfrm>
        </p:spPr>
        <p:txBody>
          <a:bodyPr/>
          <a:lstStyle>
            <a:lvl1pPr>
              <a:defRPr sz="2800">
                <a:latin typeface="Comic Sans MS" panose="030F0702030302020204" pitchFamily="66" charset="0"/>
              </a:defRPr>
            </a:lvl1pPr>
            <a:lvl2pPr>
              <a:defRPr sz="2400">
                <a:latin typeface="Comic Sans MS" panose="030F0702030302020204" pitchFamily="66" charset="0"/>
              </a:defRPr>
            </a:lvl2pPr>
            <a:lvl3pPr>
              <a:defRPr sz="2000">
                <a:latin typeface="Comic Sans MS" panose="030F0702030302020204" pitchFamily="66" charset="0"/>
              </a:defRPr>
            </a:lvl3pPr>
            <a:lvl4pPr>
              <a:defRPr sz="1800">
                <a:latin typeface="Comic Sans MS" panose="030F0702030302020204" pitchFamily="66" charset="0"/>
              </a:defRPr>
            </a:lvl4pPr>
            <a:lvl5pPr>
              <a:defRPr sz="1800">
                <a:latin typeface="Comic Sans MS" panose="030F0702030302020204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34930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omic Sans MS" panose="030F0702030302020204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226299"/>
            <a:ext cx="3887391" cy="3963364"/>
          </a:xfrm>
        </p:spPr>
        <p:txBody>
          <a:bodyPr/>
          <a:lstStyle>
            <a:lvl1pPr>
              <a:defRPr sz="2800">
                <a:latin typeface="Comic Sans MS" panose="030F0702030302020204" pitchFamily="66" charset="0"/>
              </a:defRPr>
            </a:lvl1pPr>
            <a:lvl2pPr>
              <a:defRPr sz="2400">
                <a:latin typeface="Comic Sans MS" panose="030F0702030302020204" pitchFamily="66" charset="0"/>
              </a:defRPr>
            </a:lvl2pPr>
            <a:lvl3pPr>
              <a:defRPr>
                <a:latin typeface="Comic Sans MS" panose="030F0702030302020204" pitchFamily="66" charset="0"/>
              </a:defRPr>
            </a:lvl3pPr>
            <a:lvl4pPr>
              <a:defRPr sz="1800">
                <a:latin typeface="Comic Sans MS" panose="030F0702030302020204" pitchFamily="66" charset="0"/>
              </a:defRPr>
            </a:lvl4pPr>
            <a:lvl5pPr>
              <a:defRPr sz="1800">
                <a:latin typeface="Comic Sans MS" panose="030F0702030302020204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9F571C-FBCE-49A4-B128-9005F6FF28FC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429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592FD-9C86-A8E1-6DAE-33D75984B9E0}"/>
              </a:ext>
            </a:extLst>
          </p:cNvPr>
          <p:cNvSpPr/>
          <p:nvPr userDrawn="1"/>
        </p:nvSpPr>
        <p:spPr>
          <a:xfrm>
            <a:off x="4532608" y="2213607"/>
            <a:ext cx="57148" cy="39633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omic Sans MS" panose="030F0702030302020204" pitchFamily="66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04807D-2905-FAA3-57EF-16E825316AFB}"/>
              </a:ext>
            </a:extLst>
          </p:cNvPr>
          <p:cNvSpPr/>
          <p:nvPr userDrawn="1"/>
        </p:nvSpPr>
        <p:spPr>
          <a:xfrm>
            <a:off x="628650" y="1098883"/>
            <a:ext cx="7886700" cy="6745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omic Sans MS" panose="030F0702030302020204" pitchFamily="66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4DD-DFCE-2DCC-3256-D8C1C54DB5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982469" y="3033437"/>
            <a:ext cx="2659652" cy="4340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76CC61-45C2-A340-CFAF-0EAEE0A35B72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2B35EB-C495-006C-7BA3-B486DF8857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296" y="4660325"/>
            <a:ext cx="594123" cy="4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14A670-A6C6-4923-9987-061525A90A4E}" type="datetime3">
              <a:rPr lang="en-US" smtClean="0"/>
              <a:t>19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53164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9793B-939D-41BD-718D-2C6865EF6665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1750553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BCAAC-96F4-4B82-BA47-8EF2DEC9C095}" type="datetime3">
              <a:rPr lang="en-US" smtClean="0"/>
              <a:t>19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429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3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382FB-C469-4E1A-B3F4-44CB6EB10630}" type="datetime3">
              <a:rPr lang="en-US" smtClean="0"/>
              <a:t>19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8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8B8-7B60-497B-93A3-C7CB7C5B904C}" type="datetime3">
              <a:rPr lang="en-US" smtClean="0"/>
              <a:t>19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5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2E2D-BAC0-4EEC-AF16-FECA705703FB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07CF8-C60A-470B-ACAF-FDD18325B3EC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3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F6D32-5807-4E71-875F-992A18424DF1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7FC44-AFA0-406C-827E-0652D69BC18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C92458-5956-C585-FEC0-0E111C04C8D8}"/>
              </a:ext>
            </a:extLst>
          </p:cNvPr>
          <p:cNvGrpSpPr/>
          <p:nvPr userDrawn="1"/>
        </p:nvGrpSpPr>
        <p:grpSpPr>
          <a:xfrm>
            <a:off x="2" y="-100583"/>
            <a:ext cx="9149715" cy="145666"/>
            <a:chOff x="0" y="-9144"/>
            <a:chExt cx="12199620" cy="3651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92F980-C2C4-693F-EBE4-FA01383EADB2}"/>
                </a:ext>
              </a:extLst>
            </p:cNvPr>
            <p:cNvSpPr/>
            <p:nvPr userDrawn="1"/>
          </p:nvSpPr>
          <p:spPr>
            <a:xfrm>
              <a:off x="0" y="-9144"/>
              <a:ext cx="4562856" cy="3651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E49933-6120-1ACA-44DD-BAD673B25B39}"/>
                </a:ext>
              </a:extLst>
            </p:cNvPr>
            <p:cNvSpPr/>
            <p:nvPr userDrawn="1"/>
          </p:nvSpPr>
          <p:spPr>
            <a:xfrm>
              <a:off x="3648456" y="-9144"/>
              <a:ext cx="4562856" cy="36512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E46D3A-95A2-4A4B-9CF8-9425695D4535}"/>
                </a:ext>
              </a:extLst>
            </p:cNvPr>
            <p:cNvSpPr/>
            <p:nvPr userDrawn="1"/>
          </p:nvSpPr>
          <p:spPr>
            <a:xfrm>
              <a:off x="7636764" y="-9144"/>
              <a:ext cx="4562856" cy="365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6BBC955-06FD-EFCD-162B-E8A068F3EAC9}"/>
              </a:ext>
            </a:extLst>
          </p:cNvPr>
          <p:cNvSpPr/>
          <p:nvPr userDrawn="1"/>
        </p:nvSpPr>
        <p:spPr>
          <a:xfrm>
            <a:off x="0" y="6356360"/>
            <a:ext cx="9144000" cy="501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7143C-4239-687B-463F-7D4336DC13B5}"/>
              </a:ext>
            </a:extLst>
          </p:cNvPr>
          <p:cNvSpPr/>
          <p:nvPr userDrawn="1"/>
        </p:nvSpPr>
        <p:spPr>
          <a:xfrm>
            <a:off x="0" y="-182563"/>
            <a:ext cx="914399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A3F1AF-3BCB-F94B-146E-0B30D24EA92D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209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AD98F3-06D7-26E4-D027-89C1F00E507F}"/>
              </a:ext>
            </a:extLst>
          </p:cNvPr>
          <p:cNvSpPr txBox="1">
            <a:spLocks/>
          </p:cNvSpPr>
          <p:nvPr/>
        </p:nvSpPr>
        <p:spPr>
          <a:xfrm>
            <a:off x="1310184" y="1704340"/>
            <a:ext cx="6346210" cy="42032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latin typeface="Arial Black" panose="020B0A04020102020204" pitchFamily="34" charset="0"/>
              </a:rPr>
              <a:t>FACULTY OF APPLIED SCIENCE &amp; TECHNOLOGY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C9244-D875-1F04-F5B3-7B3C4482A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037" y="995020"/>
            <a:ext cx="3433777" cy="77686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280574A-584D-53D5-DC6A-C019297B4DA2}"/>
              </a:ext>
            </a:extLst>
          </p:cNvPr>
          <p:cNvSpPr txBox="1">
            <a:spLocks/>
          </p:cNvSpPr>
          <p:nvPr/>
        </p:nvSpPr>
        <p:spPr>
          <a:xfrm>
            <a:off x="767686" y="2175390"/>
            <a:ext cx="7359556" cy="42032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Arial Black" panose="020B0A04020102020204" pitchFamily="34" charset="0"/>
              </a:rPr>
              <a:t>DEPARTMENT OF COMPUTER SCIENCE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25C1766-939B-7B53-E1A3-70D90A8C07D9}"/>
              </a:ext>
            </a:extLst>
          </p:cNvPr>
          <p:cNvSpPr/>
          <p:nvPr/>
        </p:nvSpPr>
        <p:spPr>
          <a:xfrm>
            <a:off x="856396" y="3292876"/>
            <a:ext cx="7431207" cy="1713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300" b="1">
                <a:solidFill>
                  <a:srgbClr val="D48F00"/>
                </a:solidFill>
                <a:latin typeface="Calibri"/>
              </a:defRPr>
            </a:pPr>
            <a:r>
              <a:t>TOPIC:</a:t>
            </a:r>
            <a:endParaRPr lang="en-US" sz="21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>
              <a:defRPr sz="1500" b="1">
                <a:solidFill>
                  <a:srgbClr val="186A3B"/>
                </a:solidFill>
                <a:latin typeface="Calibri"/>
              </a:defRPr>
            </a:pPr>
            <a:r>
              <a:t>MOBILE BASED CROP DISEASE DETECTION AND ADVISORY SYSTEM FOR TOMATO AND MAIZE CROPS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2DACC6-899E-F364-C1ED-A1D010852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161" y="1062040"/>
            <a:ext cx="777870" cy="68121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34DA8E0-CB1A-1C3E-ECCA-359882B70579}"/>
              </a:ext>
            </a:extLst>
          </p:cNvPr>
          <p:cNvSpPr txBox="1">
            <a:spLocks/>
          </p:cNvSpPr>
          <p:nvPr/>
        </p:nvSpPr>
        <p:spPr>
          <a:xfrm>
            <a:off x="892221" y="5248476"/>
            <a:ext cx="7359556" cy="42032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latin typeface="Arial Black" panose="020B0A04020102020204" pitchFamily="34" charset="0"/>
              </a:rPr>
              <a:t>2025/2026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D9E8D0B-F79B-8477-CAF3-16BCCA1596EE}"/>
              </a:ext>
            </a:extLst>
          </p:cNvPr>
          <p:cNvSpPr/>
          <p:nvPr/>
        </p:nvSpPr>
        <p:spPr>
          <a:xfrm>
            <a:off x="856396" y="3119008"/>
            <a:ext cx="7431207" cy="53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700" b="1">
                <a:solidFill>
                  <a:srgbClr val="154360"/>
                </a:solidFill>
                <a:latin typeface="Calibri"/>
              </a:defRPr>
            </a:pPr>
            <a:r>
              <a:t>GROUP 5</a:t>
            </a:r>
            <a:endParaRPr lang="en-US" sz="21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" y="4297680"/>
            <a:ext cx="7434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4360"/>
                </a:solidFill>
                <a:latin typeface="Calibri"/>
              </a:defRPr>
            </a:pPr>
            <a:r>
              <a:t>PROJECT TEAM (PRESENTERS):</a:t>
            </a:r>
          </a:p>
          <a:p>
            <a:pPr algn="ctr">
              <a:defRPr sz="950" b="1">
                <a:solidFill>
                  <a:srgbClr val="2C3E50"/>
                </a:solidFill>
                <a:latin typeface="Calibri"/>
              </a:defRPr>
            </a:pPr>
            <a:r>
              <a:t>Ntiamoah Prince Agyei (STUBTECH220135)  |  Adjei Sarfo Joseph (STUBTECH221244)</a:t>
            </a:r>
          </a:p>
          <a:p>
            <a:pPr algn="ctr">
              <a:defRPr sz="950" b="1">
                <a:solidFill>
                  <a:srgbClr val="2C3E50"/>
                </a:solidFill>
                <a:latin typeface="Calibri"/>
              </a:defRPr>
            </a:pPr>
            <a:r>
              <a:t>Abdul Wasiu Abubakr (STUBTECH220035)  |  Lomotey Nathaniel Julian (STUBTECH220073)</a:t>
            </a:r>
          </a:p>
          <a:p>
            <a:pPr algn="ctr">
              <a:defRPr sz="950" i="1">
                <a:solidFill>
                  <a:srgbClr val="186A3B"/>
                </a:solidFill>
                <a:latin typeface="Calibri"/>
              </a:defRPr>
            </a:pPr>
            <a:r>
              <a:t>Supervisors: Mr. Buabeng Solomon &amp; Mrs. Awuti Mensah</a:t>
            </a:r>
          </a:p>
        </p:txBody>
      </p:sp>
    </p:spTree>
    <p:extLst>
      <p:ext uri="{BB962C8B-B14F-4D97-AF65-F5344CB8AC3E}">
        <p14:creationId xmlns:p14="http://schemas.microsoft.com/office/powerpoint/2010/main" val="377103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400" advTm="10000">
        <p14:reveal/>
      </p:transition>
    </mc:Choice>
    <mc:Fallback xmlns="">
      <p:transition spd="slow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F760-C0BE-E7F9-6428-BFA2296C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1. Background &amp; Problem Motivation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9413A-95CB-8384-B46B-14ED3A858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Economic Pillar: </a:t>
            </a:r>
            <a:r>
              <a:rPr sz="1300">
                <a:solidFill>
                  <a:srgbClr val="2C3E50"/>
                </a:solidFill>
                <a:latin typeface="Calibri"/>
              </a:rPr>
              <a:t>Agriculture accounts for ~20% of Ghana's GDP and employs &gt;40% of the rural workforce.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Vital Staple Crops: </a:t>
            </a:r>
            <a:r>
              <a:rPr sz="1300">
                <a:solidFill>
                  <a:srgbClr val="2C3E50"/>
                </a:solidFill>
                <a:latin typeface="Calibri"/>
              </a:rPr>
              <a:t>Tomato (Solanum lycopersicum) &amp; Maize (Zea mays) form essential food security &amp; cash crops.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Severe Pathological Threats: </a:t>
            </a:r>
            <a:r>
              <a:rPr sz="1300">
                <a:solidFill>
                  <a:srgbClr val="2C3E50"/>
                </a:solidFill>
                <a:latin typeface="Calibri"/>
              </a:rPr>
              <a:t>Fungal blights, rusts, leaf spots, and viruses cause 30% to 80% annual yield losses.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Agricultural Extension Deficit: </a:t>
            </a:r>
            <a:r>
              <a:rPr sz="1300">
                <a:solidFill>
                  <a:srgbClr val="2C3E50"/>
                </a:solidFill>
                <a:latin typeface="Calibri"/>
              </a:rPr>
              <a:t>Ghana averages 1 agricultural extension officer per 1,500+ smallholder farmers.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Diagnostic Misclassification: </a:t>
            </a:r>
            <a:r>
              <a:rPr sz="1300">
                <a:solidFill>
                  <a:srgbClr val="2C3E50"/>
                </a:solidFill>
                <a:latin typeface="Calibri"/>
              </a:rPr>
              <a:t>Visual symptoms overlap, leading to incorrect agrochemical application and economic waste.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The Core Need: </a:t>
            </a:r>
            <a:r>
              <a:rPr sz="1300">
                <a:solidFill>
                  <a:srgbClr val="2C3E50"/>
                </a:solidFill>
                <a:latin typeface="Calibri"/>
              </a:rPr>
              <a:t>A low-latency, 100% offline, intelligent mobile diagnostic tool providing instant verified agronomic advice.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0426B-CDE0-A840-054C-EFC04159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C9C44-F35E-F54C-61F7-63BA232B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2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D1B6AF3-AD91-0E23-E0E5-1F5F54A3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9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184C-73F4-922C-E3CF-333D1583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835D-3997-C868-D250-1D96F3E7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2. Research Gaps in Existing Literature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96DB-80CB-181E-23D9-05FF8549A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Gap 1 (Heavy Cloud Models): </a:t>
            </a:r>
            <a:r>
              <a:rPr sz="1300">
                <a:solidFill>
                  <a:srgbClr val="2C3E50"/>
                </a:solidFill>
                <a:latin typeface="Calibri"/>
              </a:rPr>
              <a:t>Earlier CNNs (AlexNet, DenseNet-121 &gt;100 MB) demand heavy GPUs and active cloud connectivity.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Gap 2 (Spatial Information Loss): </a:t>
            </a:r>
            <a:r>
              <a:rPr sz="1300">
                <a:solidFill>
                  <a:srgbClr val="2C3E50"/>
                </a:solidFill>
                <a:latin typeface="Calibri"/>
              </a:rPr>
              <a:t>Standard channel attention (SE-Net) discards spatial disease spot dimensions via global pooling.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Gap 3 (Black-Box AI Barrier): </a:t>
            </a:r>
            <a:r>
              <a:rPr sz="1300">
                <a:solidFill>
                  <a:srgbClr val="2C3E50"/>
                </a:solidFill>
                <a:latin typeface="Calibri"/>
              </a:rPr>
              <a:t>Lack of transparent visual explanations leaves farmers skeptical of neural network recommendations.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Gap 4 (Rural Connectivity Barrier): </a:t>
            </a:r>
            <a:r>
              <a:rPr sz="1300">
                <a:solidFill>
                  <a:srgbClr val="2C3E50"/>
                </a:solidFill>
                <a:latin typeface="Calibri"/>
              </a:rPr>
              <a:t>Farms in rural belts experience frequent cellular blind-spots, rendering cloud APIs unusable.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Gap 5 (Disconnected Action Plans): </a:t>
            </a:r>
            <a:r>
              <a:rPr sz="1300">
                <a:solidFill>
                  <a:srgbClr val="2C3E50"/>
                </a:solidFill>
                <a:latin typeface="Calibri"/>
              </a:rPr>
              <a:t>Classification without actionable, localized organic/chemical treatment remedies yields zero practical value.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CB988-274E-3DC7-0570-AD12F023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C6ABA-09E3-D161-E003-71FFCDE6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3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2399C8-9CA3-49F7-1975-B8159069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21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9B51-39F8-7CC5-2700-CF3FFA3D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8394-76E1-ACB5-34DC-E52BE541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3. SMART Research Objectives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546F-F567-BF9B-0FB1-9C0373F21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Main Goal: </a:t>
            </a:r>
            <a:r>
              <a:rPr sz="1300">
                <a:solidFill>
                  <a:srgbClr val="2C3E50"/>
                </a:solidFill>
                <a:latin typeface="Calibri"/>
              </a:rPr>
              <a:t>Develop an offline mobile crop disease detection &amp; localized advisory system for Tomato and Maize.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Objective 1 (Model Training): </a:t>
            </a:r>
            <a:r>
              <a:rPr sz="1300">
                <a:solidFill>
                  <a:srgbClr val="2C3E50"/>
                </a:solidFill>
                <a:latin typeface="Calibri"/>
              </a:rPr>
              <a:t>Train an EfficientNet-B0 backbone fused with Triplet Attention across 14 Tomato &amp; Maize classes.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Objective 2 (Edge Compression): </a:t>
            </a:r>
            <a:r>
              <a:rPr sz="1300">
                <a:solidFill>
                  <a:srgbClr val="2C3E50"/>
                </a:solidFill>
                <a:latin typeface="Calibri"/>
              </a:rPr>
              <a:t>Quantize the model using INT8 Post-Training Quantization to &lt;10 MB with &lt;100 ms mobile latency.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Objective 3 (Explainability): </a:t>
            </a:r>
            <a:r>
              <a:rPr sz="1300">
                <a:solidFill>
                  <a:srgbClr val="2C3E50"/>
                </a:solidFill>
                <a:latin typeface="Calibri"/>
              </a:rPr>
              <a:t>Embed Grad-CAM visual heatmaps for transparent, verified crop pathology decision-making.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Objective 4 (Cross-Platform App): </a:t>
            </a:r>
            <a:r>
              <a:rPr sz="1300">
                <a:solidFill>
                  <a:srgbClr val="2C3E50"/>
                </a:solidFill>
                <a:latin typeface="Calibri"/>
              </a:rPr>
              <a:t>Build a Flutter mobile application integrated with a local SQLite remedy &amp; historical scan database.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Objective 5 (Field Validation): </a:t>
            </a:r>
            <a:r>
              <a:rPr sz="1300">
                <a:solidFill>
                  <a:srgbClr val="2C3E50"/>
                </a:solidFill>
                <a:latin typeface="Calibri"/>
              </a:rPr>
              <a:t>Perform real-world empirical usability testing using the System Usability Scale (SUS).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8B947-9CEF-C919-86DD-00BD0646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AA406-B01E-D7D2-3BF6-0074AEEB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4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5EEDC3-D0BB-BD3E-54E0-096A9DB6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5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240A-5E83-381C-8FAB-0F64FA68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C335-F18F-F989-6A2E-E1D185E4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4. End-to-End System Architecture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0083-66ED-AB35-FDD3-60A37ACB2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1. Preprocessing Engine: </a:t>
            </a:r>
            <a:r>
              <a:rPr sz="1150">
                <a:solidFill>
                  <a:srgbClr val="2C3E50"/>
                </a:solidFill>
                <a:latin typeface="Calibri"/>
              </a:rPr>
              <a:t>Standardizes 224x224 RGB leaf images with data augmentation.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2. AI Classifier: </a:t>
            </a:r>
            <a:r>
              <a:rPr sz="1150">
                <a:solidFill>
                  <a:srgbClr val="2C3E50"/>
                </a:solidFill>
                <a:latin typeface="Calibri"/>
              </a:rPr>
              <a:t>EfficientNet-B0 + Triplet Attention + Label Smoothing (eps = 0.1).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3. Edge Optimization: </a:t>
            </a:r>
            <a:r>
              <a:rPr sz="1150">
                <a:solidFill>
                  <a:srgbClr val="2C3E50"/>
                </a:solidFill>
                <a:latin typeface="Calibri"/>
              </a:rPr>
              <a:t>TFLite INT8 quantization compresses model: 20.3 MB -&gt; 5.1 MB.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4. Grad-CAM XAI Layer: </a:t>
            </a:r>
            <a:r>
              <a:rPr sz="1150">
                <a:solidFill>
                  <a:srgbClr val="2C3E50"/>
                </a:solidFill>
                <a:latin typeface="Calibri"/>
              </a:rPr>
              <a:t>Generates high-resolution heatmaps for transparency.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5. Flutter Mobile Client: </a:t>
            </a:r>
            <a:r>
              <a:rPr sz="1150">
                <a:solidFill>
                  <a:srgbClr val="2C3E50"/>
                </a:solidFill>
                <a:latin typeface="Calibri"/>
              </a:rPr>
              <a:t>100% offline edge execution + SQLite remedy engine.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CA28F-E6DB-D297-22A7-E45FA85D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75ACC-B708-2867-505E-BC857D56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5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15054F-97E5-C273-E8A6-5E6F2643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520440" cy="528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BB24-0FFA-6EC4-E7B3-4E2F9357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FF3D-5FD3-D839-F9B3-AF241BF1E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5. Dataset &amp; Preprocessing Pipeline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334F-3CBB-6636-B79A-E398700C3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PlantVillage Benchmark: </a:t>
            </a:r>
            <a:r>
              <a:rPr sz="1150">
                <a:solidFill>
                  <a:srgbClr val="2C3E50"/>
                </a:solidFill>
                <a:latin typeface="Calibri"/>
              </a:rPr>
              <a:t>21,394 expert-verified leaf photographs covering 14 classes.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4 Maize Classes: </a:t>
            </a:r>
            <a:r>
              <a:rPr sz="1100">
                <a:solidFill>
                  <a:srgbClr val="2C3E50"/>
                </a:solidFill>
                <a:latin typeface="Calibri"/>
              </a:rPr>
              <a:t>Cercospora Gray Leaf Spot, Common Rust, Northern Leaf Blight, Healthy Maize.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10 Tomato Classes: </a:t>
            </a:r>
            <a:r>
              <a:rPr sz="1050">
                <a:solidFill>
                  <a:srgbClr val="2C3E50"/>
                </a:solidFill>
                <a:latin typeface="Calibri"/>
              </a:rPr>
              <a:t>Bacterial Spot, Early/Late Blight, Leaf Mold, Septoria, Spider Mites, Target Spot, YLCV, Mosaic, Healthy.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Data Splitting: </a:t>
            </a:r>
            <a:r>
              <a:rPr sz="1150">
                <a:solidFill>
                  <a:srgbClr val="2C3E50"/>
                </a:solidFill>
                <a:latin typeface="Calibri"/>
              </a:rPr>
              <a:t>70% Training (14,976), 15% Validation (3,209), 15% Test (3,209).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Augmentation Pipeline: </a:t>
            </a:r>
            <a:r>
              <a:rPr sz="1150">
                <a:solidFill>
                  <a:srgbClr val="2C3E50"/>
                </a:solidFill>
                <a:latin typeface="Calibri"/>
              </a:rPr>
              <a:t>Rotations (+/-30 deg), zoom (+/-20%), horizontal/vertical flips, and contrast adjustments.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9625B-6460-C54C-B7F0-FB8A076D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665C0-1E72-EF7E-949F-EC5F8B8D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6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ABF74-1873-2904-1A83-BBEF0332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Sample-image-per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520440" cy="10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F60B-3BEC-347F-8C85-67F8D9F9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387E-0502-6CDE-9FA2-3DF6E4CB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6. Model Architecture &amp; Triplet Attention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0B063-0A9C-82AB-63CC-60F742588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EfficientNet-B0 Backbone: </a:t>
            </a:r>
            <a:r>
              <a:rPr sz="1150">
                <a:solidFill>
                  <a:srgbClr val="2C3E50"/>
                </a:solidFill>
                <a:latin typeface="Calibri"/>
              </a:rPr>
              <a:t>Compound scaling uniformly balances depth, width, and resolution.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Triplet Attention Module: </a:t>
            </a:r>
            <a:r>
              <a:rPr sz="1150">
                <a:solidFill>
                  <a:srgbClr val="2C3E50"/>
                </a:solidFill>
                <a:latin typeface="Calibri"/>
              </a:rPr>
              <a:t>Captures cross-dimension tensor interactions without dimensionality reduction: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Branch 1 (Channel-Height): </a:t>
            </a:r>
            <a:r>
              <a:rPr sz="1050">
                <a:solidFill>
                  <a:srgbClr val="2C3E50"/>
                </a:solidFill>
                <a:latin typeface="Calibri"/>
              </a:rPr>
              <a:t>Captures spatial height and channel correlations (H x C x W).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Branch 2 (Channel-Width): </a:t>
            </a:r>
            <a:r>
              <a:rPr sz="1050">
                <a:solidFill>
                  <a:srgbClr val="2C3E50"/>
                </a:solidFill>
                <a:latin typeface="Calibri"/>
              </a:rPr>
              <a:t>Captures spatial width and channel correlations (W x H x C).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Branch 3 (Spatial H x W): </a:t>
            </a:r>
            <a:r>
              <a:rPr sz="1050">
                <a:solidFill>
                  <a:srgbClr val="2C3E50"/>
                </a:solidFill>
                <a:latin typeface="Calibri"/>
              </a:rPr>
              <a:t>Captures spatial H x W interaction via spatial conv.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Two-Phase Transfer Learning: </a:t>
            </a:r>
            <a:r>
              <a:rPr sz="1150">
                <a:solidFill>
                  <a:srgbClr val="2C3E50"/>
                </a:solidFill>
                <a:latin typeface="Calibri"/>
              </a:rPr>
              <a:t>Phase 1: Feature head (10 ep, lr=1e-3); Phase 2: Fine-tuning (30 ep, lr=1e-5).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A67F0-6A62-77B9-172F-287DBC82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3310B-1336-C966-CF87-D1ED1BE0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7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E23E01-2CB8-1F48-B729-63BB3EBE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520440" cy="214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9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EF3D-4ED2-EF25-59A5-3DD8EE72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D143-5652-CCB1-152D-1EFAB7DF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7. Model Optimization &amp; INT8 Quantization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526A9-915A-E8DF-54BF-F158004FE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Post-Training Quantization: </a:t>
            </a:r>
            <a:r>
              <a:rPr sz="1300">
                <a:solidFill>
                  <a:srgbClr val="2C3E50"/>
                </a:solidFill>
                <a:latin typeface="Calibri"/>
              </a:rPr>
              <a:t>Maps 32-bit floating-point weights to 8-bit integers (r = S * (q - Z)) for ultra-compact storage.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Representative Dataset Calibration: </a:t>
            </a:r>
            <a:r>
              <a:rPr sz="1300">
                <a:solidFill>
                  <a:srgbClr val="2C3E50"/>
                </a:solidFill>
                <a:latin typeface="Calibri"/>
              </a:rPr>
              <a:t>200 field calibration samples compute exact tensor dynamic ranges without retraining.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Dramatic Size Reduction: </a:t>
            </a:r>
            <a:r>
              <a:rPr sz="1350">
                <a:solidFill>
                  <a:srgbClr val="2C3E50"/>
                </a:solidFill>
                <a:latin typeface="Calibri"/>
              </a:rPr>
              <a:t>Model compressed from 20.3 MB (FP32 Keras) down to 5.1 MB (TFLite INT8) -&gt; 74.9% savings!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ARM NEON Acceleration: </a:t>
            </a:r>
            <a:r>
              <a:rPr sz="1300">
                <a:solidFill>
                  <a:srgbClr val="2C3E50"/>
                </a:solidFill>
                <a:latin typeface="Calibri"/>
              </a:rPr>
              <a:t>Integer arithmetic executes on mobile ARM SIMD pipelines 3x faster than FP32 math.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Zero Floating-Point I/O Bottleneck: </a:t>
            </a:r>
            <a:r>
              <a:rPr sz="1300">
                <a:solidFill>
                  <a:srgbClr val="2C3E50"/>
                </a:solidFill>
                <a:latin typeface="Calibri"/>
              </a:rPr>
              <a:t>Float32 input/output interface preserved so mobile camera frames feed directly into the interpreter.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F3DA1-01C9-0055-47DC-ACEEEF4A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A112D-079E-FD91-4927-B0C674D9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C4480C-6140-5314-07E2-1F38DB9B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3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6705-EF57-22B8-78D5-08C19BC7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B4E8-871E-D2B0-AB2E-A6A8E142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8. Experimental Evaluation &amp; Latency Benchmarks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ABDCC-CB86-417E-F398-74AF4030A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Test Accuracy: </a:t>
            </a:r>
            <a:r>
              <a:rPr sz="1200">
                <a:solidFill>
                  <a:srgbClr val="2C3E50"/>
                </a:solidFill>
                <a:latin typeface="Calibri"/>
              </a:rPr>
              <a:t>97.85% on held-out test set (FP32 baseline: 98.24% - only 0.39% trade-off!).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Balanced F1-Scores: </a:t>
            </a:r>
            <a:r>
              <a:rPr sz="1200">
                <a:solidFill>
                  <a:srgbClr val="2C3E50"/>
                </a:solidFill>
                <a:latin typeface="Calibri"/>
              </a:rPr>
              <a:t>Weighted Precision: 0.979 | Weighted Recall: 0.978 | Macro F1: 0.978.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Rapid Mobile Latency: </a:t>
            </a:r>
            <a:r>
              <a:rPr sz="1200">
                <a:solidFill>
                  <a:srgbClr val="2C3E50"/>
                </a:solidFill>
                <a:latin typeface="Calibri"/>
              </a:rPr>
              <a:t>92 ms per image on mid-range Android phone (vs 280 ms for MobileNetV2).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Minimal RAM Footprint: </a:t>
            </a:r>
            <a:r>
              <a:rPr sz="1200">
                <a:solidFill>
                  <a:srgbClr val="2C3E50"/>
                </a:solidFill>
                <a:latin typeface="Calibri"/>
              </a:rPr>
              <a:t>&lt;45 MB RAM during active inference on budget smartphones.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Zero Cloud Reliance: </a:t>
            </a:r>
            <a:r>
              <a:rPr sz="1200">
                <a:solidFill>
                  <a:srgbClr val="2C3E50"/>
                </a:solidFill>
                <a:latin typeface="Calibri"/>
              </a:rPr>
              <a:t>Inference runs 100% locally with zero latency spikes or data fees.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37E57-F58D-53FE-EAB4-081F3FE3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982B8-4EDB-0098-7A0F-95E7AD53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6805C9-49BA-81BA-1AF1-0643DECB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training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520440" cy="11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10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B061D-70D6-5487-5A04-EDC856BB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20723"/>
          </a:xfrm>
        </p:spPr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9. Confusion Matrix &amp; Diagnostic Accuracy Analysis</a:t>
            </a:r>
            <a:endParaRPr lang="en-G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C4D72-255F-741E-B978-92FDF3B23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b="1" sz="1300">
                <a:solidFill>
                  <a:srgbClr val="186A3B"/>
                </a:solidFill>
              </a:defRPr>
            </a:pPr>
            <a:r>
              <a:t>Confusion Matrix Key Findings:</a:t>
            </a:r>
            <a:endParaRPr lang="en-G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16A16-D520-ACBF-A6AB-6E8FE87B69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Sharp Diagonal Dominance: </a:t>
            </a:r>
            <a:r>
              <a:rPr sz="1100">
                <a:solidFill>
                  <a:srgbClr val="2C3E50"/>
                </a:solidFill>
                <a:latin typeface="Calibri"/>
              </a:rPr>
              <a:t>Proves consistent classification across all 14 disease &amp; healthy classes.</a:t>
            </a:r>
            <a:endParaRPr lang="en-GH" dirty="0"/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Top Accuracy Classes: </a:t>
            </a:r>
            <a:r>
              <a:rPr sz="1100">
                <a:solidFill>
                  <a:srgbClr val="2C3E50"/>
                </a:solidFill>
                <a:latin typeface="Calibri"/>
              </a:rPr>
              <a:t>Corn Rust (99.1%), Tomato YLCV (99.4%), Tomato Mold (98.7%), Healthy Maize (99.0%).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Isolated Confusions: </a:t>
            </a:r>
            <a:r>
              <a:rPr sz="1100">
                <a:solidFill>
                  <a:srgbClr val="2C3E50"/>
                </a:solidFill>
                <a:latin typeface="Calibri"/>
              </a:rPr>
              <a:t>Minor confusion between visually similar Early Blight vs. Septoria Leaf Spot.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F29C7-C063-5C9E-C4F5-10D2EFFBC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b="1" sz="1300">
                <a:solidFill>
                  <a:srgbClr val="186A3B"/>
                </a:solidFill>
              </a:defRPr>
            </a:pPr>
            <a:r>
              <a:t>Per-Class F1 Performance:</a:t>
            </a:r>
            <a:endParaRPr lang="en-G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82B14-0D30-16BC-D124-A3DE0BEC45B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Class Balance Robustness: </a:t>
            </a:r>
            <a:r>
              <a:rPr sz="1100">
                <a:solidFill>
                  <a:srgbClr val="2C3E50"/>
                </a:solidFill>
                <a:latin typeface="Calibri"/>
              </a:rPr>
              <a:t>12 out of 14 classes achieved F1-scores &gt;= 0.95 despite class imbalance.</a:t>
            </a:r>
            <a:endParaRPr lang="en-GH" dirty="0"/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Label Smoothing Impact: </a:t>
            </a:r>
            <a:r>
              <a:rPr sz="1100">
                <a:solidFill>
                  <a:srgbClr val="2C3E50"/>
                </a:solidFill>
                <a:latin typeface="Calibri"/>
              </a:rPr>
              <a:t>Label smoothing (eps=0.1) prevented overconfident misdiagnoses.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Zero False Alarms: </a:t>
            </a:r>
            <a:r>
              <a:rPr sz="1100">
                <a:solidFill>
                  <a:srgbClr val="2C3E50"/>
                </a:solidFill>
                <a:latin typeface="Calibri"/>
              </a:rPr>
              <a:t>Healthy Tomato (98.2%) and Maize (99.0%) rarely trigger false positive alerts.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EAC12F-A2A7-AC4C-3496-9C49252A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566FA5-8C66-60CF-25C4-70FC1221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10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219637-5FD4-2782-DFD9-9FF795A1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10" name="Picture 9" descr="confusion_matrix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931920"/>
            <a:ext cx="3017520" cy="258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8253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10. Explainable AI (XAI) via Grad-CAM Heatmaps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Transparent AI Reasoning: </a:t>
            </a:r>
            <a:r>
              <a:rPr sz="1150">
                <a:solidFill>
                  <a:srgbClr val="2C3E50"/>
                </a:solidFill>
                <a:latin typeface="Calibri"/>
              </a:rPr>
              <a:t>Grad-CAM extracts gradients from final conv layer to highlight decision drivers.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Heatmap Color Spectrum: </a:t>
            </a:r>
            <a:r>
              <a:rPr sz="1150">
                <a:solidFill>
                  <a:srgbClr val="2C3E50"/>
                </a:solidFill>
                <a:latin typeface="Calibri"/>
              </a:rPr>
              <a:t>Essential visual guide for extension officers and farmers to verify diagnosis: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Red &amp; Yellow (Warm Tones): </a:t>
            </a:r>
            <a:r>
              <a:rPr sz="1050">
                <a:solidFill>
                  <a:srgbClr val="2C3E50"/>
                </a:solidFill>
                <a:latin typeface="Calibri"/>
              </a:rPr>
              <a:t>Peak neural activation on disease lesions, chlorotic rings, and rust pustules.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Green (Transitional): </a:t>
            </a:r>
            <a:r>
              <a:rPr sz="1050">
                <a:solidFill>
                  <a:srgbClr val="2C3E50"/>
                </a:solidFill>
                <a:latin typeface="Calibri"/>
              </a:rPr>
              <a:t>Moderate activation over transitional leaf zones adjacent to necrotic tissue.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050">
                <a:solidFill>
                  <a:srgbClr val="154360"/>
                </a:solidFill>
                <a:latin typeface="Calibri"/>
              </a:rPr>
              <a:t>Blue &amp; Purple (Cool Tones): </a:t>
            </a:r>
            <a:r>
              <a:rPr sz="1050">
                <a:solidFill>
                  <a:srgbClr val="2C3E50"/>
                </a:solidFill>
                <a:latin typeface="Calibri"/>
              </a:rPr>
              <a:t>Zero attention - background soil and healthy green tissue are ignored.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40/60 Alpha Blending: </a:t>
            </a:r>
            <a:r>
              <a:rPr sz="1150">
                <a:solidFill>
                  <a:srgbClr val="2C3E50"/>
                </a:solidFill>
                <a:latin typeface="Calibri"/>
              </a:rPr>
              <a:t>Heatmap overlaid at 40% opacity on 60% original leaf photo for intuitive visual correlation.</a:t>
            </a:r>
          </a:p>
        </p:txBody>
      </p:sp>
      <p:pic>
        <p:nvPicPr>
          <p:cNvPr id="4" name="Picture 3" descr="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520440" cy="1232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11. Flutter Mobile Application Architecture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29768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Cross-Platform Framework: </a:t>
            </a:r>
            <a:r>
              <a:rPr sz="1150">
                <a:solidFill>
                  <a:srgbClr val="2C3E50"/>
                </a:solidFill>
                <a:latin typeface="Calibri"/>
              </a:rPr>
              <a:t>Built with Flutter / Dart for native execution on Android and iOS.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Real-Time Camera Scanner: </a:t>
            </a:r>
            <a:r>
              <a:rPr sz="1150">
                <a:solidFill>
                  <a:srgbClr val="2C3E50"/>
                </a:solidFill>
                <a:latin typeface="Calibri"/>
              </a:rPr>
              <a:t>Camera overlay with framing guide, auto-resizing, and threshold filtering.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Local SQLite Database: </a:t>
            </a:r>
            <a:r>
              <a:rPr sz="1100">
                <a:solidFill>
                  <a:srgbClr val="2C3E50"/>
                </a:solidFill>
                <a:latin typeface="Calibri"/>
              </a:rPr>
              <a:t>Embedded repository of 14 disease profiles, localized chemical treatments, and organic remedies.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50">
                <a:solidFill>
                  <a:srgbClr val="154360"/>
                </a:solidFill>
                <a:latin typeface="Calibri"/>
              </a:rPr>
              <a:t>Diagnostic History Logging: </a:t>
            </a:r>
            <a:r>
              <a:rPr sz="1150">
                <a:solidFill>
                  <a:srgbClr val="2C3E50"/>
                </a:solidFill>
                <a:latin typeface="Calibri"/>
              </a:rPr>
              <a:t>Persists past scans, disease severity, timestamps, and GPS coordinates.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100">
                <a:solidFill>
                  <a:srgbClr val="154360"/>
                </a:solidFill>
                <a:latin typeface="Calibri"/>
              </a:rPr>
              <a:t>Uncertainty Fallback Guard: </a:t>
            </a:r>
            <a:r>
              <a:rPr sz="1100">
                <a:solidFill>
                  <a:srgbClr val="2C3E50"/>
                </a:solidFill>
                <a:latin typeface="Calibri"/>
              </a:rPr>
              <a:t>Flags scans with confidence &lt;80% as uncertain, advising farmers to re-scan under better lighting.</a:t>
            </a:r>
          </a:p>
        </p:txBody>
      </p:sp>
      <p:pic>
        <p:nvPicPr>
          <p:cNvPr id="4" name="Picture 3" descr="Diagnose_repor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43000"/>
            <a:ext cx="3108960" cy="61818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12. Comparative State-of-the-Art Literature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Mohanty et al. (2016) [AlexNet]: </a:t>
            </a:r>
            <a:r>
              <a:rPr sz="1250">
                <a:solidFill>
                  <a:srgbClr val="2C3E50"/>
                </a:solidFill>
                <a:latin typeface="Calibri"/>
              </a:rPr>
              <a:t>Model Size: ~200 MB | Accuracy: 93.50% | Cloud Only | No XAI | No Mobile App.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Too et al. (2019) [DenseNet-121]: </a:t>
            </a:r>
            <a:r>
              <a:rPr sz="1250">
                <a:solidFill>
                  <a:srgbClr val="2C3E50"/>
                </a:solidFill>
                <a:latin typeface="Calibri"/>
              </a:rPr>
              <a:t>Model Size: ~130 MB | Accuracy: 97.20% | Cloud Only | No XAI | No Mobile App.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Agarwal et al. (2021) [MobileNetV2]: </a:t>
            </a:r>
            <a:r>
              <a:rPr sz="1250">
                <a:solidFill>
                  <a:srgbClr val="2C3E50"/>
                </a:solidFill>
                <a:latin typeface="Calibri"/>
              </a:rPr>
              <a:t>Model Size: ~14 MB | Accuracy: 95.80% | Mobile Latency: 280 ms | No XAI | Baseline App.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Our Proposed Framework: </a:t>
            </a:r>
            <a:r>
              <a:rPr sz="1350">
                <a:solidFill>
                  <a:srgbClr val="2C3E50"/>
                </a:solidFill>
                <a:latin typeface="Calibri"/>
              </a:rPr>
              <a:t>Model Size: 5.1 MB | Accuracy: 97.85% | Mobile Latency: 92 ms | Grad-CAM: YES | Offline App: YES.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Why Our Approach Outperforms: </a:t>
            </a:r>
            <a:r>
              <a:rPr sz="1250">
                <a:solidFill>
                  <a:srgbClr val="2C3E50"/>
                </a:solidFill>
                <a:latin typeface="Calibri"/>
              </a:rPr>
              <a:t>Triplet Attention boosts discriminative power without parameter bloat; INT8 quantization slashes memory by 75% while accelerating mobile NEON CPU execution 3x.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13. Empirical Usability Evaluation (SUS)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Methodology: </a:t>
            </a:r>
            <a:r>
              <a:rPr sz="1300">
                <a:solidFill>
                  <a:srgbClr val="2C3E50"/>
                </a:solidFill>
                <a:latin typeface="Calibri"/>
              </a:rPr>
              <a:t>Standard Brooke (1996) 10-item Likert SUS evaluation administered across 15 agricultural participants in Sunyani.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Mean SUS Usability Score: </a:t>
            </a:r>
            <a:r>
              <a:rPr sz="1350">
                <a:solidFill>
                  <a:srgbClr val="2C3E50"/>
                </a:solidFill>
                <a:latin typeface="Calibri"/>
              </a:rPr>
              <a:t>76.5 / 100 - Substantially exceeds the global industry benchmark of 68.0 (Bangor et al., 2008).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Adjective Rating: </a:t>
            </a:r>
            <a:r>
              <a:rPr sz="1300">
                <a:solidFill>
                  <a:srgbClr val="2C3E50"/>
                </a:solidFill>
                <a:latin typeface="Calibri"/>
              </a:rPr>
              <a:t>Classified as Grade B+ ('Good / Highly Acceptable') with low perceived cognitive complexity.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Key User Praises: </a:t>
            </a:r>
            <a:r>
              <a:rPr sz="1300">
                <a:solidFill>
                  <a:srgbClr val="2C3E50"/>
                </a:solidFill>
                <a:latin typeface="Calibri"/>
              </a:rPr>
              <a:t>100% offline operation, instant sub-second diagnosis (92 ms), and clear visual heatmaps.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Actionable Feedback Incorporated: </a:t>
            </a:r>
            <a:r>
              <a:rPr sz="1300">
                <a:solidFill>
                  <a:srgbClr val="2C3E50"/>
                </a:solidFill>
                <a:latin typeface="Calibri"/>
              </a:rPr>
              <a:t>Added confidence threshold warning card and bilingual diagnostic remedy steps.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14. Summary, 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Project Summary: </a:t>
            </a:r>
            <a:r>
              <a:rPr sz="1300">
                <a:solidFill>
                  <a:srgbClr val="2C3E50"/>
                </a:solidFill>
                <a:latin typeface="Calibri"/>
              </a:rPr>
              <a:t>Successfully engineered a high-accuracy (97.85%), lightweight (5.1 MB), offline crop disease detection mobile system.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Primary Conclusion: </a:t>
            </a:r>
            <a:r>
              <a:rPr sz="1300">
                <a:solidFill>
                  <a:srgbClr val="2C3E50"/>
                </a:solidFill>
                <a:latin typeface="Calibri"/>
              </a:rPr>
              <a:t>INT8-quantized EfficientNet-B0 fused with Triplet Attention delivers cloud-grade accuracy on budget mobile hardware.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Recommendation 1 (Crop Expansion): </a:t>
            </a:r>
            <a:r>
              <a:rPr sz="1250">
                <a:solidFill>
                  <a:srgbClr val="2C3E50"/>
                </a:solidFill>
                <a:latin typeface="Calibri"/>
              </a:rPr>
              <a:t>Extend dataset coverage to Ghanaian staple crops: Cassava (mosaic virus), Cocoa (black pod), and Plantain.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Recommendation 2 (Edge YOLO): </a:t>
            </a:r>
            <a:r>
              <a:rPr sz="1250">
                <a:solidFill>
                  <a:srgbClr val="2C3E50"/>
                </a:solidFill>
                <a:latin typeface="Calibri"/>
              </a:rPr>
              <a:t>Incorporate real-time video stream multi-leaf bounding box detection on drone/tractor feeds.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Recommendation 3 (Indigenous Voice Audio): </a:t>
            </a:r>
            <a:r>
              <a:rPr sz="1250">
                <a:solidFill>
                  <a:srgbClr val="2C3E50"/>
                </a:solidFill>
                <a:latin typeface="Calibri"/>
              </a:rPr>
              <a:t>Integrate automated voice narration of agronomic remedies in Ghanaian languages (Twi, Fante, Ewe, Dagbani).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15. Acknowledgements &amp; Defense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Sincere Appreciation: </a:t>
            </a:r>
            <a:r>
              <a:rPr sz="1350">
                <a:solidFill>
                  <a:srgbClr val="2C3E50"/>
                </a:solidFill>
                <a:latin typeface="Calibri"/>
              </a:rPr>
              <a:t>Special thanks to our project supervisors, Mr. Buabeng Solomon &amp; Mrs. Awuti Mensah, for their guidance.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Faculty &amp; Department: </a:t>
            </a:r>
            <a:r>
              <a:rPr sz="1350">
                <a:solidFill>
                  <a:srgbClr val="2C3E50"/>
                </a:solidFill>
                <a:latin typeface="Calibri"/>
              </a:rPr>
              <a:t>Gratitude to the Head of Department, Dr. Ben Beklisi Kwame Ayawli, and Computer Science lecturers.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Field Participants: </a:t>
            </a:r>
            <a:r>
              <a:rPr sz="1350">
                <a:solidFill>
                  <a:srgbClr val="2C3E50"/>
                </a:solidFill>
                <a:latin typeface="Calibri"/>
              </a:rPr>
              <a:t>Appreciation to all agricultural extension officers and local farmers who participated in the field evaluation.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400">
                <a:solidFill>
                  <a:srgbClr val="154360"/>
                </a:solidFill>
                <a:latin typeface="Calibri"/>
              </a:rPr>
              <a:t>Open Floor for Defense: </a:t>
            </a:r>
            <a:r>
              <a:rPr sz="1400">
                <a:solidFill>
                  <a:srgbClr val="2C3E50"/>
                </a:solidFill>
                <a:latin typeface="Calibri"/>
              </a:rPr>
              <a:t>We welcome questions, technical critiques, and suggestions from the examination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98AE89-8FCD-4EF1-A363-DABA159D45FD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8230</TotalTime>
  <Words>136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LAMUSAH DAWDA</dc:creator>
  <cp:lastModifiedBy>LAMUSAH DAWDA</cp:lastModifiedBy>
  <cp:revision>33</cp:revision>
  <dcterms:created xsi:type="dcterms:W3CDTF">2024-07-05T21:31:44Z</dcterms:created>
  <dcterms:modified xsi:type="dcterms:W3CDTF">2026-08-19T13:58:35Z</dcterms:modified>
</cp:coreProperties>
</file>