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81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06" r:id="rId11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2F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950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16649F-4DE1-32D8-B441-7776453DA9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6D696-6EB7-7E44-0256-D5FE408ED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7877-42AE-4E96-89BB-11C2D6F190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20747-3C87-09B7-09E7-94D45A4DBD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AE67B-4E44-276D-63BE-78F0CC34A4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AF399-67E9-4685-A4F9-94AFEE671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3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B2DE9-CE44-471F-8E0C-C9E006EA2D4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6C53E-F6E7-4CC5-A337-58E99B117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9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44C7F-5835-47AD-99FA-C31C49F425AB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97791-4086-EC5C-BB95-3FD1185F3589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22115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EB0CFC-C148-AE55-0C4C-04490A347861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"/>
            <a:ext cx="7886699" cy="814796"/>
          </a:xfr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112" y="997361"/>
            <a:ext cx="7725237" cy="5179602"/>
          </a:xfrm>
        </p:spPr>
        <p:txBody>
          <a:bodyPr/>
          <a:lstStyle>
            <a:lvl1pPr>
              <a:defRPr sz="3000">
                <a:latin typeface="Comic Sans MS" panose="030F0702030302020204" pitchFamily="66" charset="0"/>
              </a:defRPr>
            </a:lvl1pPr>
            <a:lvl2pPr>
              <a:defRPr>
                <a:latin typeface="Comic Sans MS" panose="030F0702030302020204" pitchFamily="66" charset="0"/>
              </a:defRPr>
            </a:lvl2pPr>
            <a:lvl3pPr>
              <a:defRPr>
                <a:latin typeface="Comic Sans MS" panose="030F0702030302020204" pitchFamily="66" charset="0"/>
              </a:defRPr>
            </a:lvl3pPr>
            <a:lvl4pPr>
              <a:defRPr>
                <a:latin typeface="Comic Sans MS" panose="030F0702030302020204" pitchFamily="66" charset="0"/>
              </a:defRPr>
            </a:lvl4pPr>
            <a:lvl5pPr>
              <a:defRPr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95336-2A75-4845-9194-CD5DFCD56D24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2F7C8-B66D-F80E-9FE8-00AEDED6F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27056" y="3071512"/>
            <a:ext cx="2659652" cy="434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C98125-335F-4159-78B6-E3EDE4506FE5}"/>
              </a:ext>
            </a:extLst>
          </p:cNvPr>
          <p:cNvSpPr/>
          <p:nvPr userDrawn="1"/>
        </p:nvSpPr>
        <p:spPr>
          <a:xfrm>
            <a:off x="0" y="-182563"/>
            <a:ext cx="9144000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C4BF0-96F0-FCC9-A270-04D32A508A2A}"/>
              </a:ext>
            </a:extLst>
          </p:cNvPr>
          <p:cNvSpPr/>
          <p:nvPr userDrawn="1"/>
        </p:nvSpPr>
        <p:spPr>
          <a:xfrm>
            <a:off x="637528" y="834501"/>
            <a:ext cx="7886699" cy="10653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5B9C41-54F4-86E0-E424-1A15B998CE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4588" y="4698399"/>
            <a:ext cx="594123" cy="4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6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C987-1608-418C-83FB-0C4F41BDA42F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655E2-BF16-C45F-5728-AF898538E250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3EB4C-9E1E-78BB-0ECA-625FC96CEB4E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163774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37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7798"/>
            <a:ext cx="3886200" cy="47291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7798"/>
            <a:ext cx="3886200" cy="4729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0AE9CB-D8DC-4B64-A879-284BC57FBE70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50623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41608-1095-33E7-7FCE-D7428BB1F835}"/>
              </a:ext>
            </a:extLst>
          </p:cNvPr>
          <p:cNvSpPr/>
          <p:nvPr userDrawn="1"/>
        </p:nvSpPr>
        <p:spPr>
          <a:xfrm>
            <a:off x="4557713" y="1447804"/>
            <a:ext cx="34290" cy="4729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12C1A-4F52-58F4-0D6C-F8FC02A0020B}"/>
              </a:ext>
            </a:extLst>
          </p:cNvPr>
          <p:cNvSpPr/>
          <p:nvPr userDrawn="1"/>
        </p:nvSpPr>
        <p:spPr>
          <a:xfrm>
            <a:off x="628650" y="1098884"/>
            <a:ext cx="7886700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F0B93-013D-CFD6-DAAF-E49CCCB7617A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320549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33758"/>
          </a:xfr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34930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omic Sans MS" panose="030F0702030302020204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26299"/>
            <a:ext cx="3868340" cy="3963364"/>
          </a:xfrm>
        </p:spPr>
        <p:txBody>
          <a:bodyPr/>
          <a:lstStyle>
            <a:lvl1pPr>
              <a:defRPr sz="2800">
                <a:latin typeface="Comic Sans MS" panose="030F0702030302020204" pitchFamily="66" charset="0"/>
              </a:defRPr>
            </a:lvl1pPr>
            <a:lvl2pPr>
              <a:defRPr sz="2400">
                <a:latin typeface="Comic Sans MS" panose="030F0702030302020204" pitchFamily="66" charset="0"/>
              </a:defRPr>
            </a:lvl2pPr>
            <a:lvl3pPr>
              <a:defRPr sz="2000">
                <a:latin typeface="Comic Sans MS" panose="030F0702030302020204" pitchFamily="66" charset="0"/>
              </a:defRPr>
            </a:lvl3pPr>
            <a:lvl4pPr>
              <a:defRPr sz="1800">
                <a:latin typeface="Comic Sans MS" panose="030F0702030302020204" pitchFamily="66" charset="0"/>
              </a:defRPr>
            </a:lvl4pPr>
            <a:lvl5pPr>
              <a:defRPr sz="1800"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34930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omic Sans MS" panose="030F0702030302020204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226299"/>
            <a:ext cx="3887391" cy="3963364"/>
          </a:xfrm>
        </p:spPr>
        <p:txBody>
          <a:bodyPr/>
          <a:lstStyle>
            <a:lvl1pPr>
              <a:defRPr sz="2800">
                <a:latin typeface="Comic Sans MS" panose="030F0702030302020204" pitchFamily="66" charset="0"/>
              </a:defRPr>
            </a:lvl1pPr>
            <a:lvl2pPr>
              <a:defRPr sz="2400">
                <a:latin typeface="Comic Sans MS" panose="030F0702030302020204" pitchFamily="66" charset="0"/>
              </a:defRPr>
            </a:lvl2pPr>
            <a:lvl3pPr>
              <a:defRPr>
                <a:latin typeface="Comic Sans MS" panose="030F0702030302020204" pitchFamily="66" charset="0"/>
              </a:defRPr>
            </a:lvl3pPr>
            <a:lvl4pPr>
              <a:defRPr sz="1800">
                <a:latin typeface="Comic Sans MS" panose="030F0702030302020204" pitchFamily="66" charset="0"/>
              </a:defRPr>
            </a:lvl4pPr>
            <a:lvl5pPr>
              <a:defRPr sz="1800">
                <a:latin typeface="Comic Sans MS" panose="030F0702030302020204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9F571C-FBCE-49A4-B128-9005F6FF28FC}" type="datetime3">
              <a:rPr lang="en-US" smtClean="0"/>
              <a:t>19 August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592FD-9C86-A8E1-6DAE-33D75984B9E0}"/>
              </a:ext>
            </a:extLst>
          </p:cNvPr>
          <p:cNvSpPr/>
          <p:nvPr userDrawn="1"/>
        </p:nvSpPr>
        <p:spPr>
          <a:xfrm>
            <a:off x="4532608" y="2213607"/>
            <a:ext cx="57148" cy="39633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omic Sans MS" panose="030F0702030302020204" pitchFamily="66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04807D-2905-FAA3-57EF-16E825316AFB}"/>
              </a:ext>
            </a:extLst>
          </p:cNvPr>
          <p:cNvSpPr/>
          <p:nvPr userDrawn="1"/>
        </p:nvSpPr>
        <p:spPr>
          <a:xfrm>
            <a:off x="628650" y="1098883"/>
            <a:ext cx="7886700" cy="6745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omic Sans MS" panose="030F0702030302020204" pitchFamily="66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4DD-DFCE-2DCC-3256-D8C1C54DB5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82469" y="3033437"/>
            <a:ext cx="2659652" cy="4340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76CC61-45C2-A340-CFAF-0EAEE0A35B72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2B35EB-C495-006C-7BA3-B486DF8857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296" y="4660325"/>
            <a:ext cx="594123" cy="4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14A670-A6C6-4923-9987-061525A90A4E}" type="datetime3">
              <a:rPr lang="en-US" smtClean="0"/>
              <a:t>19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53164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9793B-939D-41BD-718D-2C6865EF6665}"/>
              </a:ext>
            </a:extLst>
          </p:cNvPr>
          <p:cNvSpPr/>
          <p:nvPr userDrawn="1"/>
        </p:nvSpPr>
        <p:spPr>
          <a:xfrm>
            <a:off x="-230820" y="-182563"/>
            <a:ext cx="94547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175055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BCAAC-96F4-4B82-BA47-8EF2DEC9C095}" type="datetime3">
              <a:rPr lang="en-US" smtClean="0"/>
              <a:t>19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429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3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382FB-C469-4E1A-B3F4-44CB6EB10630}" type="datetime3">
              <a:rPr lang="en-US" smtClean="0"/>
              <a:t>19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8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8B8-7B60-497B-93A3-C7CB7C5B904C}" type="datetime3">
              <a:rPr lang="en-US" smtClean="0"/>
              <a:t>19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5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2E2D-BAC0-4EEC-AF16-FECA705703FB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07CF8-C60A-470B-ACAF-FDD18325B3EC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3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F6D32-5807-4E71-875F-992A18424DF1}" type="datetime3">
              <a:rPr lang="en-US" smtClean="0"/>
              <a:t>19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COMPUTER SCIENCE DEPARTMENT - 2025/2026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7FC44-AFA0-406C-827E-0652D69BC18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C92458-5956-C585-FEC0-0E111C04C8D8}"/>
              </a:ext>
            </a:extLst>
          </p:cNvPr>
          <p:cNvGrpSpPr/>
          <p:nvPr userDrawn="1"/>
        </p:nvGrpSpPr>
        <p:grpSpPr>
          <a:xfrm>
            <a:off x="2" y="-100583"/>
            <a:ext cx="9149715" cy="145666"/>
            <a:chOff x="0" y="-9144"/>
            <a:chExt cx="12199620" cy="3651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92F980-C2C4-693F-EBE4-FA01383EADB2}"/>
                </a:ext>
              </a:extLst>
            </p:cNvPr>
            <p:cNvSpPr/>
            <p:nvPr userDrawn="1"/>
          </p:nvSpPr>
          <p:spPr>
            <a:xfrm>
              <a:off x="0" y="-9144"/>
              <a:ext cx="4562856" cy="3651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E49933-6120-1ACA-44DD-BAD673B25B39}"/>
                </a:ext>
              </a:extLst>
            </p:cNvPr>
            <p:cNvSpPr/>
            <p:nvPr userDrawn="1"/>
          </p:nvSpPr>
          <p:spPr>
            <a:xfrm>
              <a:off x="3648456" y="-9144"/>
              <a:ext cx="4562856" cy="36512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E46D3A-95A2-4A4B-9CF8-9425695D4535}"/>
                </a:ext>
              </a:extLst>
            </p:cNvPr>
            <p:cNvSpPr/>
            <p:nvPr userDrawn="1"/>
          </p:nvSpPr>
          <p:spPr>
            <a:xfrm>
              <a:off x="7636764" y="-9144"/>
              <a:ext cx="4562856" cy="365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6BBC955-06FD-EFCD-162B-E8A068F3EAC9}"/>
              </a:ext>
            </a:extLst>
          </p:cNvPr>
          <p:cNvSpPr/>
          <p:nvPr userDrawn="1"/>
        </p:nvSpPr>
        <p:spPr>
          <a:xfrm>
            <a:off x="0" y="6356360"/>
            <a:ext cx="9144000" cy="501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7143C-4239-687B-463F-7D4336DC13B5}"/>
              </a:ext>
            </a:extLst>
          </p:cNvPr>
          <p:cNvSpPr/>
          <p:nvPr userDrawn="1"/>
        </p:nvSpPr>
        <p:spPr>
          <a:xfrm>
            <a:off x="0" y="-182563"/>
            <a:ext cx="914399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A3F1AF-3BCB-F94B-146E-0B30D24EA92D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sz="1350"/>
          </a:p>
        </p:txBody>
      </p:sp>
    </p:spTree>
    <p:extLst>
      <p:ext uri="{BB962C8B-B14F-4D97-AF65-F5344CB8AC3E}">
        <p14:creationId xmlns:p14="http://schemas.microsoft.com/office/powerpoint/2010/main" val="209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AD98F3-06D7-26E4-D027-89C1F00E507F}"/>
              </a:ext>
            </a:extLst>
          </p:cNvPr>
          <p:cNvSpPr txBox="1">
            <a:spLocks/>
          </p:cNvSpPr>
          <p:nvPr/>
        </p:nvSpPr>
        <p:spPr>
          <a:xfrm>
            <a:off x="1310184" y="1704340"/>
            <a:ext cx="6346210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Arial Black" panose="020B0A04020102020204" pitchFamily="34" charset="0"/>
              </a:rPr>
              <a:t>FACULTY OF APPLIED SCIENCE &amp; TECHNOLOGY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C9244-D875-1F04-F5B3-7B3C4482A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37" y="995020"/>
            <a:ext cx="3433777" cy="77686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280574A-584D-53D5-DC6A-C019297B4DA2}"/>
              </a:ext>
            </a:extLst>
          </p:cNvPr>
          <p:cNvSpPr txBox="1">
            <a:spLocks/>
          </p:cNvSpPr>
          <p:nvPr/>
        </p:nvSpPr>
        <p:spPr>
          <a:xfrm>
            <a:off x="767686" y="2175390"/>
            <a:ext cx="7359556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Arial Black" panose="020B0A04020102020204" pitchFamily="34" charset="0"/>
              </a:rPr>
              <a:t>DEPARTMENT OF COMPUTER SCIENCE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25C1766-939B-7B53-E1A3-70D90A8C07D9}"/>
              </a:ext>
            </a:extLst>
          </p:cNvPr>
          <p:cNvSpPr/>
          <p:nvPr/>
        </p:nvSpPr>
        <p:spPr>
          <a:xfrm>
            <a:off x="856396" y="3292876"/>
            <a:ext cx="7431207" cy="1713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300" b="1">
                <a:solidFill>
                  <a:srgbClr val="D48F00"/>
                </a:solidFill>
                <a:latin typeface="Calibri"/>
              </a:defRPr>
            </a:pPr>
            <a:r>
              <a:t>TOPIC:</a:t>
            </a:r>
            <a:endParaRPr lang="en-US" sz="21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>
              <a:defRPr sz="1500" b="1">
                <a:solidFill>
                  <a:srgbClr val="186A3B"/>
                </a:solidFill>
                <a:latin typeface="Calibri"/>
              </a:defRPr>
            </a:pPr>
            <a:r>
              <a:t>MOBILE BASED CROP DISEASE DETECTION AND ADVISORY SYSTEM FOR TOMATO AND MAIZE CROPS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2DACC6-899E-F364-C1ED-A1D010852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161" y="1062040"/>
            <a:ext cx="777870" cy="68121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34DA8E0-CB1A-1C3E-ECCA-359882B70579}"/>
              </a:ext>
            </a:extLst>
          </p:cNvPr>
          <p:cNvSpPr txBox="1">
            <a:spLocks/>
          </p:cNvSpPr>
          <p:nvPr/>
        </p:nvSpPr>
        <p:spPr>
          <a:xfrm>
            <a:off x="892221" y="5248476"/>
            <a:ext cx="7359556" cy="42032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Arial Black" panose="020B0A04020102020204" pitchFamily="34" charset="0"/>
              </a:rPr>
              <a:t>2025/2026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D9E8D0B-F79B-8477-CAF3-16BCCA1596EE}"/>
              </a:ext>
            </a:extLst>
          </p:cNvPr>
          <p:cNvSpPr/>
          <p:nvPr/>
        </p:nvSpPr>
        <p:spPr>
          <a:xfrm>
            <a:off x="856396" y="3119008"/>
            <a:ext cx="7431207" cy="53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700" b="1">
                <a:solidFill>
                  <a:srgbClr val="154360"/>
                </a:solidFill>
                <a:latin typeface="Calibri"/>
              </a:defRPr>
            </a:pPr>
            <a:r>
              <a:t>GROUP 5</a:t>
            </a:r>
            <a:endParaRPr lang="en-US" sz="21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" y="4297680"/>
            <a:ext cx="7434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4360"/>
                </a:solidFill>
                <a:latin typeface="Calibri"/>
              </a:defRPr>
            </a:pPr>
            <a:r>
              <a:t>PROJECT TEAM (PRESENTERS):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Ntiamoah Prince Agyei (STUBTECH220135)  |  Adjei Sarfo Joseph (STUBTECH221244)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Abdul Wasiu Abubakr (STUBTECH220035)  |  Lomotey Nathaniel Julian (STUBTECH220073)</a:t>
            </a:r>
          </a:p>
          <a:p>
            <a:pPr algn="ctr">
              <a:defRPr sz="950" i="1">
                <a:solidFill>
                  <a:srgbClr val="186A3B"/>
                </a:solidFill>
                <a:latin typeface="Calibri"/>
              </a:defRPr>
            </a:pPr>
            <a:r>
              <a:t>Supervisors: Mr. Buabeng Solomon &amp; Mrs. Awuti Mensah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97680"/>
            <a:ext cx="7434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4360"/>
                </a:solidFill>
                <a:latin typeface="Calibri"/>
              </a:defRPr>
            </a:pPr>
            <a:r>
              <a:t>PROJECT TEAM (PRESENTERS):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Ntiamoah Prince Agyei (STUBTECH220135)  |  Adjei Sarfo Joseph (STUBTECH221244)</a:t>
            </a:r>
          </a:p>
          <a:p>
            <a:pPr algn="ctr">
              <a:defRPr sz="950" b="1">
                <a:solidFill>
                  <a:srgbClr val="2C3E50"/>
                </a:solidFill>
                <a:latin typeface="Calibri"/>
              </a:defRPr>
            </a:pPr>
            <a:r>
              <a:t>Abdul Wasiu Abubakr (STUBTECH220035)  |  Lomotey Nathaniel Julian (STUBTECH220073)</a:t>
            </a:r>
          </a:p>
          <a:p>
            <a:pPr algn="ctr">
              <a:defRPr sz="950" i="1">
                <a:solidFill>
                  <a:srgbClr val="186A3B"/>
                </a:solidFill>
                <a:latin typeface="Calibri"/>
              </a:defRPr>
            </a:pPr>
            <a:r>
              <a:t>Supervisors: Mr. Buabeng Solomon &amp; Mrs. Awuti Mensah</a:t>
            </a:r>
          </a:p>
        </p:txBody>
      </p:sp>
    </p:spTree>
    <p:extLst>
      <p:ext uri="{BB962C8B-B14F-4D97-AF65-F5344CB8AC3E}">
        <p14:creationId xmlns:p14="http://schemas.microsoft.com/office/powerpoint/2010/main" val="377103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400" advTm="10000">
        <p14:reveal/>
      </p:transition>
    </mc:Choice>
    <mc:Fallback xmlns="">
      <p:transition spd="slow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F760-C0BE-E7F9-6428-BFA2296C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Problem Study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9413A-95CB-8384-B46B-14ED3A858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Economic Pillar: </a:t>
            </a:r>
            <a:r>
              <a:rPr sz="1350">
                <a:solidFill>
                  <a:srgbClr val="2C3E50"/>
                </a:solidFill>
                <a:latin typeface="Calibri"/>
              </a:rPr>
              <a:t>Agriculture contributes ~20% of Ghana's GDP and employs over 40% of the rural workforce.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Vulnerable Staple Crops: </a:t>
            </a:r>
            <a:r>
              <a:rPr sz="1350">
                <a:solidFill>
                  <a:srgbClr val="2C3E50"/>
                </a:solidFill>
                <a:latin typeface="Calibri"/>
              </a:rPr>
              <a:t>Tomato (Solanum lycopersicum) and Maize (Zea mays) suffer from destructive fungal, bacterial, and viral pathogens.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Devastating Harvest Losses: </a:t>
            </a:r>
            <a:r>
              <a:rPr sz="1350">
                <a:solidFill>
                  <a:srgbClr val="2C3E50"/>
                </a:solidFill>
                <a:latin typeface="Calibri"/>
              </a:rPr>
              <a:t>Pathologies such as Early/Late Blight and Common Rust cause 30% to 80% annual yield reductions.</a:t>
            </a:r>
            <a:r>
              <a:rPr sz="1200" i="1">
                <a:solidFill>
                  <a:srgbClr val="D48F00"/>
                </a:solidFill>
                <a:latin typeface="Calibri"/>
              </a:rPr>
              <a:t> [FAO, 2023]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Severe Extension Deficit: </a:t>
            </a:r>
            <a:r>
              <a:rPr sz="1350">
                <a:solidFill>
                  <a:srgbClr val="2C3E50"/>
                </a:solidFill>
                <a:latin typeface="Calibri"/>
              </a:rPr>
              <a:t>Developing regions average 1 agricultural extension officer per 1,500+ smallholder farmers.</a:t>
            </a:r>
            <a:r>
              <a:rPr sz="1200" i="1">
                <a:solidFill>
                  <a:srgbClr val="D48F00"/>
                </a:solidFill>
                <a:latin typeface="Calibri"/>
              </a:rPr>
              <a:t> [MoFA Ghana, 2022]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Diagnostic Misclassification: </a:t>
            </a:r>
            <a:r>
              <a:rPr sz="1350">
                <a:solidFill>
                  <a:srgbClr val="2C3E50"/>
                </a:solidFill>
                <a:latin typeface="Calibri"/>
              </a:rPr>
              <a:t>Visual symptoms overlap significantly, leading to improper agrochemical use and environmental toxicity.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Urgent Project Imperative: </a:t>
            </a:r>
            <a:r>
              <a:rPr sz="1350">
                <a:solidFill>
                  <a:srgbClr val="2C3E50"/>
                </a:solidFill>
                <a:latin typeface="Calibri"/>
              </a:rPr>
              <a:t>A low-latency, 100% offline, intelligent mobile diagnostic tool providing instant verified agronomic advice.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0426B-CDE0-A840-054C-EFC04159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C9C44-F35E-F54C-61F7-63BA232B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2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1B6AF3-AD91-0E23-E0E5-1F5F54A3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9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184C-73F4-922C-E3CF-333D1583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835D-3997-C868-D250-1D96F3E7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Research Gaps in Existing Literature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6DB-80CB-181E-23D9-05FF8549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Heavy Cloud Architecture Bottleneck: </a:t>
            </a:r>
            <a:r>
              <a:rPr sz="1250">
                <a:solidFill>
                  <a:srgbClr val="2C3E50"/>
                </a:solidFill>
                <a:latin typeface="Calibri"/>
              </a:rPr>
              <a:t>Prior CNN models (AlexNet, DenseNet-121 &gt;100 MB) demand cloud servers and GPU clusters, infeasible for remote farms.</a:t>
            </a:r>
            <a:r>
              <a:rPr sz="1100" i="1">
                <a:solidFill>
                  <a:srgbClr val="D48F00"/>
                </a:solidFill>
                <a:latin typeface="Calibri"/>
              </a:rPr>
              <a:t> [Mohanty et al., 2016; Too et al., 2019]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Spatial Lesion Information Loss: </a:t>
            </a:r>
            <a:r>
              <a:rPr sz="1250">
                <a:solidFill>
                  <a:srgbClr val="2C3E50"/>
                </a:solidFill>
                <a:latin typeface="Calibri"/>
              </a:rPr>
              <a:t>Traditional channel attention (SE-Net) compresses channels via global average pooling, discarding fine-grained spatial lesion cues.</a:t>
            </a:r>
            <a:r>
              <a:rPr sz="1100" i="1">
                <a:solidFill>
                  <a:srgbClr val="D48F00"/>
                </a:solidFill>
                <a:latin typeface="Calibri"/>
              </a:rPr>
              <a:t> [Hu et al., 2018; Misra et al., 2021]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Black-Box AI Trust Deficit: </a:t>
            </a:r>
            <a:r>
              <a:rPr sz="1250">
                <a:solidFill>
                  <a:srgbClr val="2C3E50"/>
                </a:solidFill>
                <a:latin typeface="Calibri"/>
              </a:rPr>
              <a:t>Standard deep networks output class labels without visual explanations, causing distrust among cautious farmers and agronomists.</a:t>
            </a:r>
            <a:r>
              <a:rPr sz="1100" i="1">
                <a:solidFill>
                  <a:srgbClr val="D48F00"/>
                </a:solidFill>
                <a:latin typeface="Calibri"/>
              </a:rPr>
              <a:t> [Rahman et al., 2024; Vyas et al., 2023]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Rural Cellular Blind-Spots: </a:t>
            </a:r>
            <a:r>
              <a:rPr sz="1250">
                <a:solidFill>
                  <a:srgbClr val="2C3E50"/>
                </a:solidFill>
                <a:latin typeface="Calibri"/>
              </a:rPr>
              <a:t>Over 60% of rural sub-Saharan farming belts lack stable 4G/5G, rendering cloud-dependent API systems unusable.</a:t>
            </a:r>
            <a:r>
              <a:rPr sz="1100" i="1">
                <a:solidFill>
                  <a:srgbClr val="D48F00"/>
                </a:solidFill>
                <a:latin typeface="Calibri"/>
              </a:rPr>
              <a:t> [GSMA, 2023]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Disconnected Action Plans: </a:t>
            </a:r>
            <a:r>
              <a:rPr sz="1250">
                <a:solidFill>
                  <a:srgbClr val="2C3E50"/>
                </a:solidFill>
                <a:latin typeface="Calibri"/>
              </a:rPr>
              <a:t>Existing tools identify diseases without integrating localized, actionable organic and chemical agronomic remedies.</a:t>
            </a:r>
            <a:r>
              <a:rPr sz="1100" i="1">
                <a:solidFill>
                  <a:srgbClr val="D48F00"/>
                </a:solidFill>
                <a:latin typeface="Calibri"/>
              </a:rPr>
              <a:t> [Silva &amp; Santos, 2025]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CB988-274E-3DC7-0570-AD12F023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C6ABA-09E3-D161-E003-71FFCDE6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3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2399C8-9CA3-49F7-1975-B8159069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21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9B51-39F8-7CC5-2700-CF3FFA3D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8394-76E1-ACB5-34DC-E52BE541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Research Objectives (General &amp; Specific)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546F-F567-BF9B-0FB1-9C0373F21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50">
                <a:solidFill>
                  <a:srgbClr val="154360"/>
                </a:solidFill>
                <a:latin typeface="Calibri"/>
              </a:rPr>
              <a:t>General Objective: </a:t>
            </a:r>
            <a:r>
              <a:rPr sz="1350">
                <a:solidFill>
                  <a:srgbClr val="2C3E50"/>
                </a:solidFill>
                <a:latin typeface="Calibri"/>
              </a:rPr>
              <a:t>To design, implement, and validate an offline, mobile-based crop disease detection and localized advisory system for Tomato and Maize crops.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Specific Objective 1: </a:t>
            </a:r>
            <a:r>
              <a:rPr sz="1300">
                <a:solidFill>
                  <a:srgbClr val="2C3E50"/>
                </a:solidFill>
                <a:latin typeface="Calibri"/>
              </a:rPr>
              <a:t>Develop and train a lightweight EfficientNet-B0 backbone fused with Triplet Attention across 14 Tomato and Maize classes.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Specific Objective 2: </a:t>
            </a:r>
            <a:r>
              <a:rPr sz="1300">
                <a:solidFill>
                  <a:srgbClr val="2C3E50"/>
                </a:solidFill>
                <a:latin typeface="Calibri"/>
              </a:rPr>
              <a:t>Quantize the model using INT8 Post-Training Quantization to achieve &lt;10 MB footprint and &lt;100 ms on-device latency.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Specific Objective 3: </a:t>
            </a:r>
            <a:r>
              <a:rPr sz="1300">
                <a:solidFill>
                  <a:srgbClr val="2C3E50"/>
                </a:solidFill>
                <a:latin typeface="Calibri"/>
              </a:rPr>
              <a:t>Integrate Gradient-weighted Class Activation Mapping (Grad-CAM) to generate transparent visual diagnostic heatmaps.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Specific Objective 4: </a:t>
            </a:r>
            <a:r>
              <a:rPr sz="1300">
                <a:solidFill>
                  <a:srgbClr val="2C3E50"/>
                </a:solidFill>
                <a:latin typeface="Calibri"/>
              </a:rPr>
              <a:t>Build a cross-platform Flutter application with an embedded offline SQLite disease and treatment repository.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Specific Objective 5: </a:t>
            </a:r>
            <a:r>
              <a:rPr sz="1300">
                <a:solidFill>
                  <a:srgbClr val="2C3E50"/>
                </a:solidFill>
                <a:latin typeface="Calibri"/>
              </a:rPr>
              <a:t>Empirically evaluate real-world usability and user acceptance using the standard System Usability Scale (SUS).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8B947-9CEF-C919-86DD-00BD064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AA406-B01E-D7D2-3BF6-0074AEEB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4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5EEDC3-D0BB-BD3E-54E0-096A9DB6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5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240A-5E83-381C-8FAB-0F64FA68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C335-F18F-F989-6A2E-E1D185E4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Methodology &amp; System Pipeline Overview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0083-66ED-AB35-FDD3-60A37ACB2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1 (Data Acquisition &amp; Prep): </a:t>
            </a:r>
            <a:r>
              <a:rPr sz="1300">
                <a:solidFill>
                  <a:srgbClr val="2C3E50"/>
                </a:solidFill>
                <a:latin typeface="Calibri"/>
              </a:rPr>
              <a:t>Standardization to 224x224 RGB, photometric/geometric augmentations to simulate natural outdoor lighting.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2 (Model Engineering): </a:t>
            </a:r>
            <a:r>
              <a:rPr sz="1300">
                <a:solidFill>
                  <a:srgbClr val="2C3E50"/>
                </a:solidFill>
                <a:latin typeface="Calibri"/>
              </a:rPr>
              <a:t>EfficientNet-B0 backbone + Triplet Attention module + Label Smoothing (eps = 0.1) for high discrimination.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3 (Two-Phase Transfer Learning): </a:t>
            </a:r>
            <a:r>
              <a:rPr sz="1300">
                <a:solidFill>
                  <a:srgbClr val="2C3E50"/>
                </a:solidFill>
                <a:latin typeface="Calibri"/>
              </a:rPr>
              <a:t>Phase 1: Feature extraction (10 epochs); Phase 2: End-to-end fine-tuning with low learning rate (30 epochs).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4 (INT8 Post-Training Quantization): </a:t>
            </a:r>
            <a:r>
              <a:rPr sz="1300">
                <a:solidFill>
                  <a:srgbClr val="2C3E50"/>
                </a:solidFill>
                <a:latin typeface="Calibri"/>
              </a:rPr>
              <a:t>TensorFlow Lite INT8 quantization with representative dataset calibration (20.3 MB -&gt; 5.1 MB).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5 (Edge Mobile Deployment): </a:t>
            </a:r>
            <a:r>
              <a:rPr sz="1300">
                <a:solidFill>
                  <a:srgbClr val="2C3E50"/>
                </a:solidFill>
                <a:latin typeface="Calibri"/>
              </a:rPr>
              <a:t>Flutter cross-platform client + on-device TFLite interpreter + local SQLite database (100% offline).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Stage 6 (XAI &amp; Usability Testing): </a:t>
            </a:r>
            <a:r>
              <a:rPr sz="1300">
                <a:solidFill>
                  <a:srgbClr val="2C3E50"/>
                </a:solidFill>
                <a:latin typeface="Calibri"/>
              </a:rPr>
              <a:t>Grad-CAM visual attention verification + empirical 10-item Likert SUS field evaluation.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CA28F-E6DB-D297-22A7-E45FA85D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75ACC-B708-2867-505E-BC857D56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5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15054F-97E5-C273-E8A6-5E6F2643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520440" cy="528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BB24-0FFA-6EC4-E7B3-4E2F9357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FF3D-5FD3-D839-F9B3-AF241BF1E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Methodology Flowchart &amp; System Architecture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334F-3CBB-6636-B79A-E398700C3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0"/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endParaRPr lang="en-GH" dirty="0">
              <a:latin typeface="Comic Sans MS" panose="030F0702030302020204" pitchFamily="66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9625B-6460-C54C-B7F0-FB8A076D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665C0-1E72-EF7E-949F-EC5F8B8D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6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ABF74-1873-2904-1A83-BBEF0332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Sample-image-per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520440" cy="10664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05840"/>
            <a:ext cx="758952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F60B-3BEC-347F-8C85-67F8D9F9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387E-0502-6CDE-9FA2-3DF6E4CB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Dataset Preprocessing &amp; Augmentation Pipeline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B063-0A9C-82AB-63CC-60F74258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PlantVillage Benchmark Dataset: </a:t>
            </a:r>
            <a:r>
              <a:rPr sz="1300">
                <a:solidFill>
                  <a:srgbClr val="2C3E50"/>
                </a:solidFill>
                <a:latin typeface="Calibri"/>
              </a:rPr>
              <a:t>21,394 expert-annotated leaf photographs across 14 categories.</a:t>
            </a:r>
            <a:r>
              <a:rPr sz="1150" i="1">
                <a:solidFill>
                  <a:srgbClr val="D48F00"/>
                </a:solidFill>
                <a:latin typeface="Calibri"/>
              </a:rPr>
              <a:t> [Hughes &amp; Salathe, 2015]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4 Maize Classes (3,852 images): </a:t>
            </a:r>
            <a:r>
              <a:rPr sz="1250">
                <a:solidFill>
                  <a:srgbClr val="2C3E50"/>
                </a:solidFill>
                <a:latin typeface="Calibri"/>
              </a:rPr>
              <a:t>Cercospora Gray Leaf Spot (513), Common Rust (1,192), Northern Leaf Blight (985), Healthy Maize (1,162).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10 Tomato Classes (17,542 images): </a:t>
            </a:r>
            <a:r>
              <a:rPr sz="1200">
                <a:solidFill>
                  <a:srgbClr val="2C3E50"/>
                </a:solidFill>
                <a:latin typeface="Calibri"/>
              </a:rPr>
              <a:t>Bacterial Spot (2,127), Early Blight (1,000), Late Blight (1,909), Leaf Mold (952), Septoria (1,771), Spider Mites (1,676), Target Spot (1,404), Yellow Leaf Curl (3,209), Mosaic Virus (373), Healthy (1,591).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Stratified Data Split: </a:t>
            </a:r>
            <a:r>
              <a:rPr sz="1300">
                <a:solidFill>
                  <a:srgbClr val="2C3E50"/>
                </a:solidFill>
                <a:latin typeface="Calibri"/>
              </a:rPr>
              <a:t>70% Training (14,976 images), 15% Validation (3,209 images), 15% Held-out Test (3,209 images).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Data Augmentation Parameters: </a:t>
            </a:r>
            <a:r>
              <a:rPr sz="1300">
                <a:solidFill>
                  <a:srgbClr val="2C3E50"/>
                </a:solidFill>
                <a:latin typeface="Calibri"/>
              </a:rPr>
              <a:t>Random rotation (+/-30 deg), zoom (+/-20%), horizontal/vertical flips, and brightness/contrast shifts (+/-15%).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A67F0-6A62-77B9-172F-287DBC82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3310B-1336-C966-CF87-D1ED1BE0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7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E23E01-2CB8-1F48-B729-63BB3EBE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520440" cy="214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9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EF3D-4ED2-EF25-59A5-3DD8EE72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D143-5652-CCB1-152D-1EFAB7DF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PlantVillage 14-Class Sample Leaf Dataset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26A9-915A-E8DF-54BF-F158004FE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endParaRPr lang="en-GH" dirty="0">
              <a:latin typeface="Comic Sans MS" panose="030F0702030302020204" pitchFamily="66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F3DA1-01C9-0055-47DC-ACEEEF4A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A112D-079E-FD91-4927-B0C674D9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C4480C-6140-5314-07E2-1F38DB9B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05840"/>
            <a:ext cx="758952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3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6705-EF57-22B8-78D5-08C19BC7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B4E8-871E-D2B0-AB2E-A6A8E142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Model Architecture &amp; Triplet Attention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BDCC-CB86-417E-F398-74AF4030A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EfficientNet-B0 Backbone: </a:t>
            </a:r>
            <a:r>
              <a:rPr sz="1250">
                <a:solidFill>
                  <a:srgbClr val="2C3E50"/>
                </a:solidFill>
                <a:latin typeface="Calibri"/>
              </a:rPr>
              <a:t>Compound scaling uniformly scales depth (d = alpha^phi), width (w = beta^phi), and resolution (r = gamma^phi).</a:t>
            </a:r>
            <a:r>
              <a:rPr sz="1100" i="1">
                <a:solidFill>
                  <a:srgbClr val="D48F00"/>
                </a:solidFill>
                <a:latin typeface="Calibri"/>
              </a:rPr>
              <a:t> [Tan &amp; Le, 2019]</a:t>
            </a:r>
            <a:endParaRPr lang="en-GH" dirty="0">
              <a:latin typeface="Comic Sans MS" panose="030F0702030302020204" pitchFamily="66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Triplet Attention Module: </a:t>
            </a:r>
            <a:r>
              <a:rPr sz="1250">
                <a:solidFill>
                  <a:srgbClr val="2C3E50"/>
                </a:solidFill>
                <a:latin typeface="Calibri"/>
              </a:rPr>
              <a:t>Computes cross-dimension tensor interaction without dimensionality reduction across 3 parallel branches:</a:t>
            </a:r>
            <a:r>
              <a:rPr sz="1100" i="1">
                <a:solidFill>
                  <a:srgbClr val="D48F00"/>
                </a:solidFill>
                <a:latin typeface="Calibri"/>
              </a:rPr>
              <a:t> [Misra et al., 2021]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Branch 1 (Channel-Height): </a:t>
            </a:r>
            <a:r>
              <a:rPr sz="1200">
                <a:solidFill>
                  <a:srgbClr val="2C3E50"/>
                </a:solidFill>
                <a:latin typeface="Calibri"/>
              </a:rPr>
              <a:t>Permutes input tensor to (H x C x W) to capture spatial height and channel dependencies.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Branch 2 (Channel-Width): </a:t>
            </a:r>
            <a:r>
              <a:rPr sz="1200">
                <a:solidFill>
                  <a:srgbClr val="2C3E50"/>
                </a:solidFill>
                <a:latin typeface="Calibri"/>
              </a:rPr>
              <a:t>Permutes input tensor to (W x H x C) to capture spatial width and channel dependencies.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00">
                <a:solidFill>
                  <a:srgbClr val="154360"/>
                </a:solidFill>
                <a:latin typeface="Calibri"/>
              </a:rPr>
              <a:t>Branch 3 (Spatial H x W): </a:t>
            </a:r>
            <a:r>
              <a:rPr sz="1200">
                <a:solidFill>
                  <a:srgbClr val="2C3E50"/>
                </a:solidFill>
                <a:latin typeface="Calibri"/>
              </a:rPr>
              <a:t>Applies standard spatial attention over (C x H x W) via 7x7 spatial convolution.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Key Advantage over SE-Net/CBAM: </a:t>
            </a:r>
            <a:r>
              <a:rPr sz="1250">
                <a:solidFill>
                  <a:srgbClr val="2C3E50"/>
                </a:solidFill>
                <a:latin typeface="Calibri"/>
              </a:rPr>
              <a:t>Preserves fine-grained spatial lesion boundaries (e.g. Septoria spots, rust pustules) with zero parameter bloat.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37E57-F58D-53FE-EAB4-081F3FE3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982B8-4EDB-0098-7A0F-95E7AD53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6805C9-49BA-81BA-1AF1-0643DECB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7" name="Picture 6" descr="training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520440" cy="11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10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B061D-70D6-5487-5A04-EDC856BB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20723"/>
          </a:xfrm>
        </p:spPr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Triplet Attention Module Architectural Diagram</a:t>
            </a:r>
            <a:endParaRPr lang="en-G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C4D72-255F-741E-B978-92FDF3B23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0" y="0"/>
          </a:xfrm>
        </p:spPr>
        <p:txBody>
          <a:bodyPr/>
          <a:lstStyle/>
          <a:p>
            <a:pPr>
              <a:defRPr b="1" sz="1300">
                <a:solidFill>
                  <a:srgbClr val="186A3B"/>
                </a:solidFill>
              </a:defRPr>
            </a:pPr>
            <a:endParaRPr lang="en-G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16A16-D520-ACBF-A6AB-6E8FE87B6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0" 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endParaRPr lang="en-G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F29C7-C063-5C9E-C4F5-10D2EFFB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0" y="0"/>
          </a:xfrm>
        </p:spPr>
        <p:txBody>
          <a:bodyPr/>
          <a:lstStyle/>
          <a:p>
            <a:pPr>
              <a:defRPr b="1" sz="1300">
                <a:solidFill>
                  <a:srgbClr val="186A3B"/>
                </a:solidFill>
              </a:defRPr>
            </a:pPr>
            <a:endParaRPr lang="en-G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82B14-0D30-16BC-D124-A3DE0BEC4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0" 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endParaRPr lang="en-GH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EAC12F-A2A7-AC4C-3496-9C49252A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/>
            </a:pPr>
            <a:r>
              <a:t>COMPUTER SCIENCE DEPARTMENT - 2025/2026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566FA5-8C66-60CF-25C4-70FC1221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/>
            </a:pPr>
            <a:r>
              <a:t>10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219637-5FD4-2782-DFD9-9FF795A1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/>
            </a:pPr>
            <a:r>
              <a:t>AUGUST 2026</a:t>
            </a:r>
            <a:endParaRPr lang="en-US" dirty="0"/>
          </a:p>
        </p:txBody>
      </p:sp>
      <p:pic>
        <p:nvPicPr>
          <p:cNvPr id="10" name="Picture 9" descr="confusion_matrix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931920"/>
            <a:ext cx="3017520" cy="258644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05840"/>
            <a:ext cx="758952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8253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Two-Phase Transfer Learning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Phase 1: Feature Extraction: </a:t>
            </a:r>
            <a:r>
              <a:rPr sz="1300">
                <a:solidFill>
                  <a:srgbClr val="2C3E50"/>
                </a:solidFill>
                <a:latin typeface="Calibri"/>
              </a:rPr>
              <a:t>Frozen EfficientNet-B0 backbone, classification head trained with learning rate eta = 1e-3 (10 epochs).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Phase 2: Fine-Tuning: </a:t>
            </a:r>
            <a:r>
              <a:rPr sz="1300">
                <a:solidFill>
                  <a:srgbClr val="2C3E50"/>
                </a:solidFill>
                <a:latin typeface="Calibri"/>
              </a:rPr>
              <a:t>Unfrozen backbone, all layers fine-tuned end-to-end with reduced learning rate eta = 1e-5 (30 epochs).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Categorical Cross-Entropy with Label Smoothing: </a:t>
            </a:r>
            <a:r>
              <a:rPr sz="1300">
                <a:solidFill>
                  <a:srgbClr val="2C3E50"/>
                </a:solidFill>
                <a:latin typeface="Calibri"/>
              </a:rPr>
              <a:t>Replaces hard one-hot targets with smoothed distribution (eps = 0.1) to prevent overconfident false positives.</a:t>
            </a:r>
            <a:r>
              <a:rPr sz="1150" i="1">
                <a:solidFill>
                  <a:srgbClr val="D48F00"/>
                </a:solidFill>
                <a:latin typeface="Calibri"/>
              </a:rPr>
              <a:t> [Szegedy et al., 2016]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Adam Optimizer: </a:t>
            </a:r>
            <a:r>
              <a:rPr sz="1300">
                <a:solidFill>
                  <a:srgbClr val="2C3E50"/>
                </a:solidFill>
                <a:latin typeface="Calibri"/>
              </a:rPr>
              <a:t>Configured with beta1 = 0.9, beta2 = 0.999, eps = 1e-7 for smooth gradient convergence.</a:t>
            </a:r>
            <a:r>
              <a:rPr sz="1150" i="1">
                <a:solidFill>
                  <a:srgbClr val="D48F00"/>
                </a:solidFill>
                <a:latin typeface="Calibri"/>
              </a:rPr>
              <a:t> [Kingma &amp; Ba, 2014]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Adaptive Callbacks: </a:t>
            </a:r>
            <a:r>
              <a:rPr sz="1300">
                <a:solidFill>
                  <a:srgbClr val="2C3E50"/>
                </a:solidFill>
                <a:latin typeface="Calibri"/>
              </a:rPr>
              <a:t>Early stopping (patience=7 on val_loss) and ReduceLROnPlateau (factor=0.2, patience=3) ensure optimal generalization.</a:t>
            </a:r>
          </a:p>
        </p:txBody>
      </p:sp>
      <p:pic>
        <p:nvPicPr>
          <p:cNvPr id="4" name="Picture 3" descr="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520440" cy="1232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Training and Validation Accuracy &amp; Loss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0" y="0"/>
            <a:ext cx="4297680" c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</a:p>
        </p:txBody>
      </p:sp>
      <p:pic>
        <p:nvPicPr>
          <p:cNvPr id="4" name="Picture 3" descr="Diagnose_repo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3000"/>
            <a:ext cx="3108960" cy="618187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7132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Results, Metrics &amp; State-of-the-Art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Classification Accuracy: </a:t>
            </a:r>
            <a:r>
              <a:rPr sz="1300">
                <a:solidFill>
                  <a:srgbClr val="2C3E50"/>
                </a:solidFill>
                <a:latin typeface="Calibri"/>
              </a:rPr>
              <a:t>97.85% INT8 test accuracy across 14 classes (FP32 baseline: 98.24% - only 0.39% trade-off!).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Balanced F1 Performance: </a:t>
            </a:r>
            <a:r>
              <a:rPr sz="1300">
                <a:solidFill>
                  <a:srgbClr val="2C3E50"/>
                </a:solidFill>
                <a:latin typeface="Calibri"/>
              </a:rPr>
              <a:t>Weighted Precision: 0.979 | Weighted Recall: 0.978 | Macro F1-Score: 0.978 (12/14 classes &gt;= 0.95).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Ultra-Low Mobile Latency: </a:t>
            </a:r>
            <a:r>
              <a:rPr sz="1300">
                <a:solidFill>
                  <a:srgbClr val="2C3E50"/>
                </a:solidFill>
                <a:latin typeface="Calibri"/>
              </a:rPr>
              <a:t>92 ms per image on mid-range Android smartphone (vs. 280 ms for MobileNetV2 in literature).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Extreme Edge Compression: </a:t>
            </a:r>
            <a:r>
              <a:rPr sz="1300">
                <a:solidFill>
                  <a:srgbClr val="2C3E50"/>
                </a:solidFill>
                <a:latin typeface="Calibri"/>
              </a:rPr>
              <a:t>5.1 MB INT8 TFLite model footprint (74.9% storage reduction from 20.3 MB FP32 Keras).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Comparative Literature Benchmark: </a:t>
            </a:r>
            <a:r>
              <a:rPr sz="1250">
                <a:solidFill>
                  <a:srgbClr val="2C3E50"/>
                </a:solidFill>
                <a:latin typeface="Calibri"/>
              </a:rPr>
              <a:t>Outperforms AlexNet (~200 MB, 93.5%), DenseNet-121 (~130 MB, 97.2%), and MobileNetV2 (14 MB, 95.8%).</a:t>
            </a:r>
            <a:r>
              <a:rPr sz="1100" i="1">
                <a:solidFill>
                  <a:srgbClr val="D48F00"/>
                </a:solidFill>
                <a:latin typeface="Calibri"/>
              </a:rPr>
              <a:t> [Mohanty et al., 2016; Too et al., 2019; Agarwal et al., 2021]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14-Class Confusion Matrix &amp; Per-Class F1-Scores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0" 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3886200" cy="4754880"/>
          </a:xfrm>
          <a:prstGeom prst="rect">
            <a:avLst/>
          </a:prstGeom>
        </p:spPr>
      </p:pic>
      <p:pic>
        <p:nvPicPr>
          <p:cNvPr id="5" name="Picture 4" descr="per_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3931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Mobile Application Architecture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Cross-Platform Flutter Engine: </a:t>
            </a:r>
            <a:r>
              <a:rPr sz="1300">
                <a:solidFill>
                  <a:srgbClr val="2C3E50"/>
                </a:solidFill>
                <a:latin typeface="Calibri"/>
              </a:rPr>
              <a:t>Native compilation to Android ARM64 binaries for smooth 60 FPS user interface performance.</a:t>
            </a:r>
            <a:r>
              <a:rPr sz="1150" i="1">
                <a:solidFill>
                  <a:srgbClr val="D48F00"/>
                </a:solidFill>
                <a:latin typeface="Calibri"/>
              </a:rPr>
              <a:t> [Sarker et al., 2024]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Real-Time Camera Scanner: </a:t>
            </a:r>
            <a:r>
              <a:rPr sz="1300">
                <a:solidFill>
                  <a:srgbClr val="2C3E50"/>
                </a:solidFill>
                <a:latin typeface="Calibri"/>
              </a:rPr>
              <a:t>Interactive camera interface with leaf framing overlay, auto-resizing (224x224), and normalization.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Embedded SQLite Database: </a:t>
            </a:r>
            <a:r>
              <a:rPr sz="1300">
                <a:solidFill>
                  <a:srgbClr val="2C3E50"/>
                </a:solidFill>
                <a:latin typeface="Calibri"/>
              </a:rPr>
              <a:t>100% offline storage of 14 disease profiles, chemical agrochemical dosages, and organic cultural remedies.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Diagnostic Confidence Slider: </a:t>
            </a:r>
            <a:r>
              <a:rPr sz="1300">
                <a:solidFill>
                  <a:srgbClr val="2C3E50"/>
                </a:solidFill>
                <a:latin typeface="Calibri"/>
              </a:rPr>
              <a:t>Default 80% threshold flags low-certainty scans to prevent misdiagnosis under poor field lighting.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Historical Diagnostic Audit Log: </a:t>
            </a:r>
            <a:r>
              <a:rPr sz="1300">
                <a:solidFill>
                  <a:srgbClr val="2C3E50"/>
                </a:solidFill>
                <a:latin typeface="Calibri"/>
              </a:rPr>
              <a:t>Persists past scans, disease severity, timestamps, and GPS coordinates for field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Mobile Application Interface &amp; Treatment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0" y="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</a:p>
        </p:txBody>
      </p:sp>
      <p:pic>
        <p:nvPicPr>
          <p:cNvPr id="4" name="Picture 3" descr="Screenshot 2026-08-01 160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2560320" cy="34363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051560"/>
            <a:ext cx="2560320" cy="5090955"/>
          </a:xfrm>
          <a:prstGeom prst="rect">
            <a:avLst/>
          </a:prstGeom>
        </p:spPr>
      </p:pic>
      <p:pic>
        <p:nvPicPr>
          <p:cNvPr id="6" name="Picture 5" descr="full_report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051560"/>
            <a:ext cx="2560320" cy="51279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Explainable AI (XAI) via Grad-CAM Heatmaps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Mathematical Formulation: </a:t>
            </a:r>
            <a:r>
              <a:rPr sz="1300">
                <a:solidFill>
                  <a:srgbClr val="2C3E50"/>
                </a:solidFill>
                <a:latin typeface="Calibri"/>
              </a:rPr>
              <a:t>Computes gradients of predicted class score y^c with respect to final conv feature maps A^k.</a:t>
            </a:r>
            <a:r>
              <a:rPr sz="1150" i="1">
                <a:solidFill>
                  <a:srgbClr val="D48F00"/>
                </a:solidFill>
                <a:latin typeface="Calibri"/>
              </a:rPr>
              <a:t> [Selvaraju et al., 2017]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Heatmap Color Spectrum Guide: </a:t>
            </a:r>
            <a:r>
              <a:rPr sz="1300">
                <a:solidFill>
                  <a:srgbClr val="2C3E50"/>
                </a:solidFill>
                <a:latin typeface="Calibri"/>
              </a:rPr>
              <a:t>Essential visual verification guide for farmers and agricultural extension officers: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Red &amp; Yellow (Warm Tones): </a:t>
            </a:r>
            <a:r>
              <a:rPr sz="1250">
                <a:solidFill>
                  <a:srgbClr val="2C3E50"/>
                </a:solidFill>
                <a:latin typeface="Calibri"/>
              </a:rPr>
              <a:t>Peak neural attention - directly focused on necrotic lesions, chlorotic rings, and rust pustules.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Green (Transitional): </a:t>
            </a:r>
            <a:r>
              <a:rPr sz="1250">
                <a:solidFill>
                  <a:srgbClr val="2C3E50"/>
                </a:solidFill>
                <a:latin typeface="Calibri"/>
              </a:rPr>
              <a:t>Moderate neural activation marking transitional leaf tissue boundaries.</a:t>
            </a:r>
          </a:p>
          <a:p>
            <a:pPr lvl="1"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Blue &amp; Purple (Cool Tones): </a:t>
            </a:r>
            <a:r>
              <a:rPr sz="1250">
                <a:solidFill>
                  <a:srgbClr val="2C3E50"/>
                </a:solidFill>
                <a:latin typeface="Calibri"/>
              </a:rPr>
              <a:t>Zero neural attention - healthy green leaf tissue, stems, and background soil are ignored.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40/60 Alpha Blending: </a:t>
            </a:r>
            <a:r>
              <a:rPr sz="1300">
                <a:solidFill>
                  <a:srgbClr val="2C3E50"/>
                </a:solidFill>
                <a:latin typeface="Calibri"/>
              </a:rPr>
              <a:t>Heatmap overlaid at 40% opacity over original 60% leaf image for intuitive visual correlation.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Grad-CAM Feature Attention Heatmaps Across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0" y="0"/>
          </a:xfrm>
        </p:spPr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05840"/>
            <a:ext cx="7589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Conclusion &amp; Recommendations for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Summary of Achievements: </a:t>
            </a:r>
            <a:r>
              <a:rPr sz="1300">
                <a:solidFill>
                  <a:srgbClr val="2C3E50"/>
                </a:solidFill>
                <a:latin typeface="Calibri"/>
              </a:rPr>
              <a:t>Successfully developed a 97.85% accurate, 5.1 MB lightweight, 92 ms fast, 100% offline crop diagnostic mobile system.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Primary Conclusion: </a:t>
            </a:r>
            <a:r>
              <a:rPr sz="1300">
                <a:solidFill>
                  <a:srgbClr val="2C3E50"/>
                </a:solidFill>
                <a:latin typeface="Calibri"/>
              </a:rPr>
              <a:t>INT8-quantized EfficientNet-B0 fused with Triplet Attention proves that high-accuracy, transparent AI is viable on budget mobile devices.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300">
                <a:solidFill>
                  <a:srgbClr val="154360"/>
                </a:solidFill>
                <a:latin typeface="Calibri"/>
              </a:rPr>
              <a:t>Empirical Validation: </a:t>
            </a:r>
            <a:r>
              <a:rPr sz="1300">
                <a:solidFill>
                  <a:srgbClr val="2C3E50"/>
                </a:solidFill>
                <a:latin typeface="Calibri"/>
              </a:rPr>
              <a:t>Attained a System Usability Scale (SUS) score of 76.5 / 100 (Grade B+ 'Good'), confirming strong field acceptability.</a:t>
            </a:r>
            <a:r>
              <a:rPr sz="1150" i="1">
                <a:solidFill>
                  <a:srgbClr val="D48F00"/>
                </a:solidFill>
                <a:latin typeface="Calibri"/>
              </a:rPr>
              <a:t> [Brooke, 1996; Bangor et al., 2008]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1 (Crop Expansion): </a:t>
            </a:r>
            <a:r>
              <a:rPr sz="1250">
                <a:solidFill>
                  <a:srgbClr val="2C3E50"/>
                </a:solidFill>
                <a:latin typeface="Calibri"/>
              </a:rPr>
              <a:t>Extend dataset to Ghanaian staple cash crops: Cassava (mosaic virus), Cocoa (black pod), and Plantain.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2 (Edge YOLO Video): </a:t>
            </a:r>
            <a:r>
              <a:rPr sz="1250">
                <a:solidFill>
                  <a:srgbClr val="2C3E50"/>
                </a:solidFill>
                <a:latin typeface="Calibri"/>
              </a:rPr>
              <a:t>Integrate real-time video stream multi-leaf bounding box detection for drone/tractor mounting.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sz="1250">
                <a:solidFill>
                  <a:srgbClr val="154360"/>
                </a:solidFill>
                <a:latin typeface="Calibri"/>
              </a:rPr>
              <a:t>Recommendation 3 (Indigenous Voice Audio): </a:t>
            </a:r>
            <a:r>
              <a:rPr sz="1250">
                <a:solidFill>
                  <a:srgbClr val="2C3E50"/>
                </a:solidFill>
                <a:latin typeface="Calibri"/>
              </a:rPr>
              <a:t>Incorporate automated voice audio narration of treatment remedies in Ghanaian languages (Twi, Fante, Ewe, Dagbani).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References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Agarwal, M., Singh, A., Arjaria, S., Sinha, A., &amp; Gupta, S. (2021). ToLeD: Tomato leaf disease detection using mobile-friendly deep learning. Computers and Electronics in Agriculture, 186, 106208.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Bangor, A., Kortum, P. T., &amp; Miller, J. T. (2008). An empirical evaluation of the system usability scale. International Journal of Human-Computer Interaction, 24(6), 574-594.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Brooke, J. (1996). SUS-A quick and dirty usability scale. Usability Evaluation in Industry, 189(194), 4-7.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Hu, J., Shen, L., &amp; Sun, G. (2018). Squeeze-and-excitation networks. Proceedings of the IEEE Conference on Computer Vision and Pattern Recognition (CVPR), 7132-7141.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Hughes, D., &amp; Salathe, M. (2015). An open access repository of images on plant health to enable the development of mobile disease diagnostics. arXiv preprint arXiv:1511.08060.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Kingma, D. P., &amp; Ba, J. (2014). Adam: A method for stochastic optimization. arXiv preprint arXiv:1412.6980.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86A3B"/>
                </a:solidFill>
                <a:latin typeface="Calibri"/>
              </a:defRPr>
            </a:pPr>
            <a:r>
              <a:t>References (Part 2) &amp; Defense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Misra, D., Shrivastava, S., &amp; Ramasamy, M. (2021). Rotate to attend: Convolutional triplet attention module. IEEE/CVF Winter Conference on Applications of Computer Vision (WACV), 3139-3148.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Mohanty, S. P., Hughes, D. P., &amp; Salathe, M. (2016). Using deep learning for image-based plant disease detection. Frontiers in Plant Science, 7, 1419.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Rahman, T., Al-Mahi, M., &amp; Hossain, M. A. (2024). Interpretability of deep learning models in plant disease detection: A Grad-CAM approach. Smart Agricultural Technology, 7, 100389.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Selvaraju, R. R., Cogswell, M., Das, A., Vedantam, R., Parikh, D., &amp; Batra, D. (2017). Grad-CAM: Visual explanations from deep networks via gradient-based localization. IEEE ICCV, 618-626.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Tan, M., &amp; Le, Q. (2019). EfficientNet: Rethinking model scaling for convolutional neural networks. International Conference on Machine Learning (ICML), 6105-6114.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>
                <a:solidFill>
                  <a:srgbClr val="2C3E50"/>
                </a:solidFill>
                <a:latin typeface="Calibri"/>
              </a:rPr>
              <a:t>Too, E. C., Yujian, L., Njuki, S., &amp; Yingchun, L. (2019). A comparative study of fine-tuning deep learning models for plant disease identification. Computers and Electronics in Agriculture, 161, 272-279.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98AE89-8FCD-4EF1-A363-DABA159D45FD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8230</TotalTime>
  <Words>136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LAMUSAH DAWDA</dc:creator>
  <cp:lastModifiedBy>LAMUSAH DAWDA</cp:lastModifiedBy>
  <cp:revision>33</cp:revision>
  <dcterms:created xsi:type="dcterms:W3CDTF">2024-07-05T21:31:44Z</dcterms:created>
  <dcterms:modified xsi:type="dcterms:W3CDTF">2026-08-19T13:58:35Z</dcterms:modified>
</cp:coreProperties>
</file>